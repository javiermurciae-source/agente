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Oswald Bold" charset="1" panose="00000800000000000000"/>
      <p:regular r:id="rId21"/>
    </p:embeddedFont>
    <p:embeddedFont>
      <p:font typeface="Codec Pro" charset="1" panose="00000500000000000000"/>
      <p:regular r:id="rId22"/>
    </p:embeddedFont>
    <p:embeddedFont>
      <p:font typeface="Oswald" charset="1" panose="00000500000000000000"/>
      <p:regular r:id="rId23"/>
    </p:embeddedFont>
    <p:embeddedFont>
      <p:font typeface="Glacial Indifference" charset="1" panose="00000000000000000000"/>
      <p:regular r:id="rId24"/>
    </p:embeddedFont>
    <p:embeddedFont>
      <p:font typeface="Glacial Indifference Bold" charset="1" panose="00000800000000000000"/>
      <p:regular r:id="rId25"/>
    </p:embeddedFont>
    <p:embeddedFont>
      <p:font typeface="Codec Pro Bold" charset="1" panose="000006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grpSp>
        <p:nvGrpSpPr>
          <p:cNvPr name="Group 2" id="2"/>
          <p:cNvGrpSpPr>
            <a:grpSpLocks noChangeAspect="true"/>
          </p:cNvGrpSpPr>
          <p:nvPr/>
        </p:nvGrpSpPr>
        <p:grpSpPr>
          <a:xfrm rot="5400000">
            <a:off x="2659204" y="-6225116"/>
            <a:ext cx="6274575" cy="12450233"/>
            <a:chOff x="0" y="0"/>
            <a:chExt cx="3165983" cy="6282055"/>
          </a:xfrm>
        </p:grpSpPr>
        <p:sp>
          <p:nvSpPr>
            <p:cNvPr name="Freeform 3" id="3"/>
            <p:cNvSpPr/>
            <p:nvPr/>
          </p:nvSpPr>
          <p:spPr>
            <a:xfrm flipH="false" flipV="false" rot="0">
              <a:off x="4318" y="4318"/>
              <a:ext cx="3157347" cy="6273419"/>
            </a:xfrm>
            <a:custGeom>
              <a:avLst/>
              <a:gdLst/>
              <a:ahLst/>
              <a:cxnLst/>
              <a:rect r="r" b="b" t="t" l="l"/>
              <a:pathLst>
                <a:path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ADC7EA"/>
            </a:solidFill>
          </p:spPr>
        </p:sp>
        <p:sp>
          <p:nvSpPr>
            <p:cNvPr name="Freeform 4" id="4"/>
            <p:cNvSpPr/>
            <p:nvPr/>
          </p:nvSpPr>
          <p:spPr>
            <a:xfrm flipH="false" flipV="false" rot="0">
              <a:off x="0" y="0"/>
              <a:ext cx="3166110" cy="6282055"/>
            </a:xfrm>
            <a:custGeom>
              <a:avLst/>
              <a:gdLst/>
              <a:ahLst/>
              <a:cxnLst/>
              <a:rect r="r" b="b" t="t" l="l"/>
              <a:pathLst>
                <a:path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132232"/>
            </a:solidFill>
          </p:spPr>
        </p:sp>
      </p:grpSp>
      <p:grpSp>
        <p:nvGrpSpPr>
          <p:cNvPr name="Group 5" id="5"/>
          <p:cNvGrpSpPr>
            <a:grpSpLocks noChangeAspect="true"/>
          </p:cNvGrpSpPr>
          <p:nvPr/>
        </p:nvGrpSpPr>
        <p:grpSpPr>
          <a:xfrm rot="-5400000">
            <a:off x="9151444" y="4851745"/>
            <a:ext cx="6274575" cy="12450233"/>
            <a:chOff x="0" y="0"/>
            <a:chExt cx="3165983" cy="6282055"/>
          </a:xfrm>
        </p:grpSpPr>
        <p:sp>
          <p:nvSpPr>
            <p:cNvPr name="Freeform 6" id="6"/>
            <p:cNvSpPr/>
            <p:nvPr/>
          </p:nvSpPr>
          <p:spPr>
            <a:xfrm flipH="false" flipV="false" rot="0">
              <a:off x="4318" y="4318"/>
              <a:ext cx="3157347" cy="6273419"/>
            </a:xfrm>
            <a:custGeom>
              <a:avLst/>
              <a:gdLst/>
              <a:ahLst/>
              <a:cxnLst/>
              <a:rect r="r" b="b" t="t" l="l"/>
              <a:pathLst>
                <a:path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E0E6E9"/>
            </a:solidFill>
          </p:spPr>
        </p:sp>
        <p:sp>
          <p:nvSpPr>
            <p:cNvPr name="Freeform 7" id="7"/>
            <p:cNvSpPr/>
            <p:nvPr/>
          </p:nvSpPr>
          <p:spPr>
            <a:xfrm flipH="false" flipV="false" rot="0">
              <a:off x="0" y="0"/>
              <a:ext cx="3166110" cy="6282055"/>
            </a:xfrm>
            <a:custGeom>
              <a:avLst/>
              <a:gdLst/>
              <a:ahLst/>
              <a:cxnLst/>
              <a:rect r="r" b="b" t="t" l="l"/>
              <a:pathLst>
                <a:path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E0E6E9"/>
            </a:solidFill>
          </p:spPr>
        </p:sp>
      </p:grpSp>
      <p:grpSp>
        <p:nvGrpSpPr>
          <p:cNvPr name="Group 8" id="8"/>
          <p:cNvGrpSpPr/>
          <p:nvPr/>
        </p:nvGrpSpPr>
        <p:grpSpPr>
          <a:xfrm rot="0">
            <a:off x="12814229" y="6428718"/>
            <a:ext cx="12630150" cy="1114425"/>
            <a:chOff x="0" y="0"/>
            <a:chExt cx="3326459" cy="293511"/>
          </a:xfrm>
        </p:grpSpPr>
        <p:sp>
          <p:nvSpPr>
            <p:cNvPr name="Freeform 9" id="9"/>
            <p:cNvSpPr/>
            <p:nvPr/>
          </p:nvSpPr>
          <p:spPr>
            <a:xfrm flipH="false" flipV="false" rot="0">
              <a:off x="0" y="0"/>
              <a:ext cx="3326459" cy="293511"/>
            </a:xfrm>
            <a:custGeom>
              <a:avLst/>
              <a:gdLst/>
              <a:ahLst/>
              <a:cxnLst/>
              <a:rect r="r" b="b" t="t" l="l"/>
              <a:pathLst>
                <a:path h="293511" w="3326459">
                  <a:moveTo>
                    <a:pt x="3123259" y="0"/>
                  </a:moveTo>
                  <a:cubicBezTo>
                    <a:pt x="3235484" y="0"/>
                    <a:pt x="3326459" y="65705"/>
                    <a:pt x="3326459" y="146756"/>
                  </a:cubicBezTo>
                  <a:cubicBezTo>
                    <a:pt x="3326459" y="227806"/>
                    <a:pt x="3235484" y="293511"/>
                    <a:pt x="3123259" y="293511"/>
                  </a:cubicBezTo>
                  <a:lnTo>
                    <a:pt x="203200" y="293511"/>
                  </a:lnTo>
                  <a:cubicBezTo>
                    <a:pt x="90976" y="293511"/>
                    <a:pt x="0" y="227806"/>
                    <a:pt x="0" y="146756"/>
                  </a:cubicBezTo>
                  <a:cubicBezTo>
                    <a:pt x="0" y="65705"/>
                    <a:pt x="90976" y="0"/>
                    <a:pt x="203200" y="0"/>
                  </a:cubicBezTo>
                  <a:close/>
                </a:path>
              </a:pathLst>
            </a:custGeom>
            <a:solidFill>
              <a:srgbClr val="FFFFFF"/>
            </a:solidFill>
          </p:spPr>
        </p:sp>
        <p:sp>
          <p:nvSpPr>
            <p:cNvPr name="TextBox 10" id="10"/>
            <p:cNvSpPr txBox="true"/>
            <p:nvPr/>
          </p:nvSpPr>
          <p:spPr>
            <a:xfrm>
              <a:off x="0" y="-66675"/>
              <a:ext cx="3326459" cy="360186"/>
            </a:xfrm>
            <a:prstGeom prst="rect">
              <a:avLst/>
            </a:prstGeom>
          </p:spPr>
          <p:txBody>
            <a:bodyPr anchor="ctr" rtlCol="false" tIns="50800" lIns="50800" bIns="50800" rIns="50800"/>
            <a:lstStyle/>
            <a:p>
              <a:pPr algn="ctr">
                <a:lnSpc>
                  <a:spcPts val="3624"/>
                </a:lnSpc>
              </a:pPr>
            </a:p>
          </p:txBody>
        </p:sp>
      </p:grpSp>
      <p:sp>
        <p:nvSpPr>
          <p:cNvPr name="TextBox 11" id="11"/>
          <p:cNvSpPr txBox="true"/>
          <p:nvPr/>
        </p:nvSpPr>
        <p:spPr>
          <a:xfrm rot="0">
            <a:off x="0" y="5278401"/>
            <a:ext cx="13235916" cy="1165523"/>
          </a:xfrm>
          <a:prstGeom prst="rect">
            <a:avLst/>
          </a:prstGeom>
        </p:spPr>
        <p:txBody>
          <a:bodyPr anchor="t" rtlCol="false" tIns="0" lIns="0" bIns="0" rIns="0">
            <a:spAutoFit/>
          </a:bodyPr>
          <a:lstStyle/>
          <a:p>
            <a:pPr algn="ctr">
              <a:lnSpc>
                <a:spcPts val="9069"/>
              </a:lnSpc>
            </a:pPr>
            <a:r>
              <a:rPr lang="en-US" b="true" sz="7955">
                <a:solidFill>
                  <a:srgbClr val="FFFFFF"/>
                </a:solidFill>
                <a:latin typeface="Oswald Bold"/>
                <a:ea typeface="Oswald Bold"/>
                <a:cs typeface="Oswald Bold"/>
                <a:sym typeface="Oswald Bold"/>
              </a:rPr>
              <a:t>PROPUESTA DE PROYECTO</a:t>
            </a:r>
          </a:p>
        </p:txBody>
      </p:sp>
      <p:sp>
        <p:nvSpPr>
          <p:cNvPr name="TextBox 12" id="12"/>
          <p:cNvSpPr txBox="true"/>
          <p:nvPr/>
        </p:nvSpPr>
        <p:spPr>
          <a:xfrm rot="0">
            <a:off x="1300093" y="6852073"/>
            <a:ext cx="13293265" cy="358013"/>
          </a:xfrm>
          <a:prstGeom prst="rect">
            <a:avLst/>
          </a:prstGeom>
        </p:spPr>
        <p:txBody>
          <a:bodyPr anchor="t" rtlCol="false" tIns="0" lIns="0" bIns="0" rIns="0">
            <a:spAutoFit/>
          </a:bodyPr>
          <a:lstStyle/>
          <a:p>
            <a:pPr algn="l">
              <a:lnSpc>
                <a:spcPts val="2595"/>
              </a:lnSpc>
            </a:pPr>
            <a:r>
              <a:rPr lang="en-US" sz="2199" spc="103">
                <a:solidFill>
                  <a:srgbClr val="FFFFFF"/>
                </a:solidFill>
                <a:latin typeface="Codec Pro"/>
                <a:ea typeface="Codec Pro"/>
                <a:cs typeface="Codec Pro"/>
                <a:sym typeface="Codec Pro"/>
              </a:rPr>
              <a:t>ENSIGNA STUDIO</a:t>
            </a:r>
          </a:p>
        </p:txBody>
      </p:sp>
      <p:sp>
        <p:nvSpPr>
          <p:cNvPr name="AutoShape 13" id="13"/>
          <p:cNvSpPr/>
          <p:nvPr/>
        </p:nvSpPr>
        <p:spPr>
          <a:xfrm>
            <a:off x="-428625" y="3501989"/>
            <a:ext cx="6492240" cy="0"/>
          </a:xfrm>
          <a:prstGeom prst="line">
            <a:avLst/>
          </a:prstGeom>
          <a:ln cap="flat" w="38100">
            <a:solidFill>
              <a:srgbClr val="FFFFFF"/>
            </a:solidFill>
            <a:prstDash val="solid"/>
            <a:headEnd type="none" len="sm" w="sm"/>
            <a:tailEnd type="oval" len="lg" w="lg"/>
          </a:ln>
        </p:spPr>
      </p:sp>
      <p:sp>
        <p:nvSpPr>
          <p:cNvPr name="AutoShape 14" id="14"/>
          <p:cNvSpPr/>
          <p:nvPr/>
        </p:nvSpPr>
        <p:spPr>
          <a:xfrm>
            <a:off x="12471329" y="7739549"/>
            <a:ext cx="6492240" cy="0"/>
          </a:xfrm>
          <a:prstGeom prst="line">
            <a:avLst/>
          </a:prstGeom>
          <a:ln cap="flat" w="38100">
            <a:solidFill>
              <a:srgbClr val="FFFFFF"/>
            </a:solidFill>
            <a:prstDash val="solid"/>
            <a:headEnd type="oval" len="lg" w="lg"/>
            <a:tailEnd type="none" len="sm" w="sm"/>
          </a:ln>
        </p:spPr>
      </p:sp>
      <p:grpSp>
        <p:nvGrpSpPr>
          <p:cNvPr name="Group 15" id="15"/>
          <p:cNvGrpSpPr>
            <a:grpSpLocks noChangeAspect="true"/>
          </p:cNvGrpSpPr>
          <p:nvPr/>
        </p:nvGrpSpPr>
        <p:grpSpPr>
          <a:xfrm rot="-5400000">
            <a:off x="9766900" y="5394670"/>
            <a:ext cx="6274575" cy="12450233"/>
            <a:chOff x="0" y="0"/>
            <a:chExt cx="3165983" cy="6282055"/>
          </a:xfrm>
        </p:grpSpPr>
        <p:sp>
          <p:nvSpPr>
            <p:cNvPr name="Freeform 16" id="16"/>
            <p:cNvSpPr/>
            <p:nvPr/>
          </p:nvSpPr>
          <p:spPr>
            <a:xfrm flipH="false" flipV="false" rot="0">
              <a:off x="4318" y="4318"/>
              <a:ext cx="3157347" cy="6273419"/>
            </a:xfrm>
            <a:custGeom>
              <a:avLst/>
              <a:gdLst/>
              <a:ahLst/>
              <a:cxnLst/>
              <a:rect r="r" b="b" t="t" l="l"/>
              <a:pathLst>
                <a:path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9DB3C1"/>
            </a:solidFill>
          </p:spPr>
        </p:sp>
        <p:sp>
          <p:nvSpPr>
            <p:cNvPr name="Freeform 17" id="17"/>
            <p:cNvSpPr/>
            <p:nvPr/>
          </p:nvSpPr>
          <p:spPr>
            <a:xfrm flipH="false" flipV="false" rot="0">
              <a:off x="0" y="0"/>
              <a:ext cx="3166110" cy="6282055"/>
            </a:xfrm>
            <a:custGeom>
              <a:avLst/>
              <a:gdLst/>
              <a:ahLst/>
              <a:cxnLst/>
              <a:rect r="r" b="b" t="t" l="l"/>
              <a:pathLst>
                <a:path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9DB3C1"/>
            </a:solidFill>
          </p:spPr>
        </p:sp>
      </p:grpSp>
      <p:grpSp>
        <p:nvGrpSpPr>
          <p:cNvPr name="Group 18" id="18"/>
          <p:cNvGrpSpPr>
            <a:grpSpLocks noChangeAspect="true"/>
          </p:cNvGrpSpPr>
          <p:nvPr/>
        </p:nvGrpSpPr>
        <p:grpSpPr>
          <a:xfrm rot="5400000">
            <a:off x="2154379" y="-6870065"/>
            <a:ext cx="6274575" cy="12450233"/>
            <a:chOff x="0" y="0"/>
            <a:chExt cx="3165983" cy="6282055"/>
          </a:xfrm>
        </p:grpSpPr>
        <p:sp>
          <p:nvSpPr>
            <p:cNvPr name="Freeform 19" id="19"/>
            <p:cNvSpPr/>
            <p:nvPr/>
          </p:nvSpPr>
          <p:spPr>
            <a:xfrm flipH="false" flipV="false" rot="0">
              <a:off x="4318" y="4318"/>
              <a:ext cx="3157347" cy="6273419"/>
            </a:xfrm>
            <a:custGeom>
              <a:avLst/>
              <a:gdLst/>
              <a:ahLst/>
              <a:cxnLst/>
              <a:rect r="r" b="b" t="t" l="l"/>
              <a:pathLst>
                <a:path h="6273419" w="3157347">
                  <a:moveTo>
                    <a:pt x="3049651" y="6273419"/>
                  </a:moveTo>
                  <a:lnTo>
                    <a:pt x="107696" y="6273419"/>
                  </a:lnTo>
                  <a:cubicBezTo>
                    <a:pt x="48260" y="6273419"/>
                    <a:pt x="0" y="6225286"/>
                    <a:pt x="0" y="6165723"/>
                  </a:cubicBezTo>
                  <a:lnTo>
                    <a:pt x="0" y="1578737"/>
                  </a:lnTo>
                  <a:cubicBezTo>
                    <a:pt x="0" y="706882"/>
                    <a:pt x="706882" y="0"/>
                    <a:pt x="1578737" y="0"/>
                  </a:cubicBezTo>
                  <a:lnTo>
                    <a:pt x="1578737" y="0"/>
                  </a:lnTo>
                  <a:cubicBezTo>
                    <a:pt x="2450592" y="0"/>
                    <a:pt x="3157347" y="706755"/>
                    <a:pt x="3157347" y="1578610"/>
                  </a:cubicBezTo>
                  <a:lnTo>
                    <a:pt x="3157347" y="6165723"/>
                  </a:lnTo>
                  <a:cubicBezTo>
                    <a:pt x="3157347" y="6225286"/>
                    <a:pt x="3109087" y="6273419"/>
                    <a:pt x="3049651" y="6273419"/>
                  </a:cubicBezTo>
                  <a:close/>
                </a:path>
              </a:pathLst>
            </a:custGeom>
            <a:solidFill>
              <a:srgbClr val="5B696F"/>
            </a:solidFill>
          </p:spPr>
        </p:sp>
        <p:sp>
          <p:nvSpPr>
            <p:cNvPr name="Freeform 20" id="20"/>
            <p:cNvSpPr/>
            <p:nvPr/>
          </p:nvSpPr>
          <p:spPr>
            <a:xfrm flipH="false" flipV="false" rot="0">
              <a:off x="0" y="0"/>
              <a:ext cx="3166110" cy="6282055"/>
            </a:xfrm>
            <a:custGeom>
              <a:avLst/>
              <a:gdLst/>
              <a:ahLst/>
              <a:cxnLst/>
              <a:rect r="r" b="b" t="t" l="l"/>
              <a:pathLst>
                <a:path h="6282055" w="3166110">
                  <a:moveTo>
                    <a:pt x="3053969" y="6282055"/>
                  </a:moveTo>
                  <a:lnTo>
                    <a:pt x="112014" y="6282055"/>
                  </a:lnTo>
                  <a:cubicBezTo>
                    <a:pt x="50292" y="6282055"/>
                    <a:pt x="0" y="6231763"/>
                    <a:pt x="0" y="6170041"/>
                  </a:cubicBezTo>
                  <a:lnTo>
                    <a:pt x="0" y="1583055"/>
                  </a:lnTo>
                  <a:cubicBezTo>
                    <a:pt x="0" y="1369314"/>
                    <a:pt x="41910" y="1162050"/>
                    <a:pt x="124460" y="966851"/>
                  </a:cubicBezTo>
                  <a:cubicBezTo>
                    <a:pt x="204216" y="778383"/>
                    <a:pt x="318389" y="609092"/>
                    <a:pt x="463677" y="463677"/>
                  </a:cubicBezTo>
                  <a:cubicBezTo>
                    <a:pt x="608965" y="318262"/>
                    <a:pt x="778256" y="204089"/>
                    <a:pt x="966851" y="124460"/>
                  </a:cubicBezTo>
                  <a:cubicBezTo>
                    <a:pt x="1161923" y="41910"/>
                    <a:pt x="1369314" y="0"/>
                    <a:pt x="1583055" y="0"/>
                  </a:cubicBezTo>
                  <a:cubicBezTo>
                    <a:pt x="1796796" y="0"/>
                    <a:pt x="2004060" y="41910"/>
                    <a:pt x="2199259" y="124460"/>
                  </a:cubicBezTo>
                  <a:cubicBezTo>
                    <a:pt x="2387727" y="204216"/>
                    <a:pt x="2557018" y="318389"/>
                    <a:pt x="2702433" y="463677"/>
                  </a:cubicBezTo>
                  <a:cubicBezTo>
                    <a:pt x="2847848" y="609092"/>
                    <a:pt x="2961894" y="778383"/>
                    <a:pt x="3041650" y="966851"/>
                  </a:cubicBezTo>
                  <a:cubicBezTo>
                    <a:pt x="3124200" y="1162050"/>
                    <a:pt x="3166110" y="1369314"/>
                    <a:pt x="3166110" y="1583055"/>
                  </a:cubicBezTo>
                  <a:lnTo>
                    <a:pt x="3166110" y="6170168"/>
                  </a:lnTo>
                  <a:cubicBezTo>
                    <a:pt x="3165983" y="6231890"/>
                    <a:pt x="3115818" y="6282055"/>
                    <a:pt x="3053969" y="6282055"/>
                  </a:cubicBezTo>
                  <a:close/>
                  <a:moveTo>
                    <a:pt x="1583055" y="8763"/>
                  </a:moveTo>
                  <a:cubicBezTo>
                    <a:pt x="1370584" y="8763"/>
                    <a:pt x="1164336" y="50419"/>
                    <a:pt x="970280" y="132461"/>
                  </a:cubicBezTo>
                  <a:cubicBezTo>
                    <a:pt x="782828" y="211709"/>
                    <a:pt x="614426" y="325247"/>
                    <a:pt x="469900" y="469900"/>
                  </a:cubicBezTo>
                  <a:cubicBezTo>
                    <a:pt x="325374" y="614553"/>
                    <a:pt x="211709" y="782701"/>
                    <a:pt x="132461" y="970280"/>
                  </a:cubicBezTo>
                  <a:cubicBezTo>
                    <a:pt x="50419" y="1164336"/>
                    <a:pt x="8763" y="1370584"/>
                    <a:pt x="8763" y="1583055"/>
                  </a:cubicBezTo>
                  <a:lnTo>
                    <a:pt x="8763" y="6170168"/>
                  </a:lnTo>
                  <a:cubicBezTo>
                    <a:pt x="8763" y="6227064"/>
                    <a:pt x="55118" y="6273419"/>
                    <a:pt x="112014" y="6273419"/>
                  </a:cubicBezTo>
                  <a:lnTo>
                    <a:pt x="3053969" y="6273419"/>
                  </a:lnTo>
                  <a:cubicBezTo>
                    <a:pt x="3110865" y="6273419"/>
                    <a:pt x="3157220" y="6227064"/>
                    <a:pt x="3157220" y="6170168"/>
                  </a:cubicBezTo>
                  <a:lnTo>
                    <a:pt x="3157220" y="1583055"/>
                  </a:lnTo>
                  <a:cubicBezTo>
                    <a:pt x="3157220" y="1370584"/>
                    <a:pt x="3115564" y="1164336"/>
                    <a:pt x="3033522" y="970280"/>
                  </a:cubicBezTo>
                  <a:cubicBezTo>
                    <a:pt x="2954274" y="782828"/>
                    <a:pt x="2840736" y="614426"/>
                    <a:pt x="2696083" y="469900"/>
                  </a:cubicBezTo>
                  <a:cubicBezTo>
                    <a:pt x="2551557" y="325374"/>
                    <a:pt x="2383155" y="211836"/>
                    <a:pt x="2195703" y="132461"/>
                  </a:cubicBezTo>
                  <a:cubicBezTo>
                    <a:pt x="2001647" y="50292"/>
                    <a:pt x="1795526" y="8763"/>
                    <a:pt x="1583055" y="8763"/>
                  </a:cubicBezTo>
                  <a:close/>
                </a:path>
              </a:pathLst>
            </a:custGeom>
            <a:solidFill>
              <a:srgbClr val="5B696F"/>
            </a:solidFill>
          </p:spPr>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5400000">
            <a:off x="2410379" y="4056483"/>
            <a:ext cx="8122491" cy="0"/>
          </a:xfrm>
          <a:prstGeom prst="line">
            <a:avLst/>
          </a:prstGeom>
          <a:ln cap="flat" w="9525">
            <a:solidFill>
              <a:srgbClr val="FFFFFF"/>
            </a:solidFill>
            <a:prstDash val="solid"/>
            <a:headEnd type="none" len="sm" w="sm"/>
            <a:tailEnd type="none" len="sm" w="sm"/>
          </a:ln>
        </p:spPr>
      </p:sp>
      <p:grpSp>
        <p:nvGrpSpPr>
          <p:cNvPr name="Group 3" id="3"/>
          <p:cNvGrpSpPr/>
          <p:nvPr/>
        </p:nvGrpSpPr>
        <p:grpSpPr>
          <a:xfrm rot="0">
            <a:off x="6334823" y="2164509"/>
            <a:ext cx="264078" cy="264078"/>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5" id="5"/>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TextBox 6" id="6"/>
          <p:cNvSpPr txBox="true"/>
          <p:nvPr/>
        </p:nvSpPr>
        <p:spPr>
          <a:xfrm rot="0">
            <a:off x="1028700" y="2202609"/>
            <a:ext cx="5199431" cy="2336651"/>
          </a:xfrm>
          <a:prstGeom prst="rect">
            <a:avLst/>
          </a:prstGeom>
        </p:spPr>
        <p:txBody>
          <a:bodyPr anchor="t" rtlCol="false" tIns="0" lIns="0" bIns="0" rIns="0">
            <a:spAutoFit/>
          </a:bodyPr>
          <a:lstStyle/>
          <a:p>
            <a:pPr algn="l">
              <a:lnSpc>
                <a:spcPts val="9200"/>
              </a:lnSpc>
            </a:pPr>
            <a:r>
              <a:rPr lang="en-US" sz="8000">
                <a:solidFill>
                  <a:srgbClr val="FFFFFF"/>
                </a:solidFill>
                <a:latin typeface="Oswald"/>
                <a:ea typeface="Oswald"/>
                <a:cs typeface="Oswald"/>
                <a:sym typeface="Oswald"/>
              </a:rPr>
              <a:t>ÍNDICE DEL DOCUMENTO</a:t>
            </a:r>
          </a:p>
        </p:txBody>
      </p:sp>
      <p:sp>
        <p:nvSpPr>
          <p:cNvPr name="TextBox 7" id="7"/>
          <p:cNvSpPr txBox="true"/>
          <p:nvPr/>
        </p:nvSpPr>
        <p:spPr>
          <a:xfrm rot="0">
            <a:off x="6824213" y="2097834"/>
            <a:ext cx="7929515"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INTRODUCCIÓN</a:t>
            </a:r>
          </a:p>
        </p:txBody>
      </p:sp>
      <p:sp>
        <p:nvSpPr>
          <p:cNvPr name="TextBox 8" id="8"/>
          <p:cNvSpPr txBox="true"/>
          <p:nvPr/>
        </p:nvSpPr>
        <p:spPr>
          <a:xfrm rot="0">
            <a:off x="7339370" y="2628295"/>
            <a:ext cx="5199431" cy="362585"/>
          </a:xfrm>
          <a:prstGeom prst="rect">
            <a:avLst/>
          </a:prstGeom>
        </p:spPr>
        <p:txBody>
          <a:bodyPr anchor="t" rtlCol="false" tIns="0" lIns="0" bIns="0" rIns="0">
            <a:spAutoFit/>
          </a:bodyPr>
          <a:lstStyle/>
          <a:p>
            <a:pPr algn="l">
              <a:lnSpc>
                <a:spcPts val="2620"/>
              </a:lnSpc>
            </a:pPr>
            <a:r>
              <a:rPr lang="en-US" sz="2000" spc="40">
                <a:solidFill>
                  <a:srgbClr val="FFFFFF"/>
                </a:solidFill>
                <a:latin typeface="Codec Pro"/>
                <a:ea typeface="Codec Pro"/>
                <a:cs typeface="Codec Pro"/>
                <a:sym typeface="Codec Pro"/>
              </a:rPr>
              <a:t>Nuestra metodología</a:t>
            </a:r>
          </a:p>
        </p:txBody>
      </p:sp>
      <p:sp>
        <p:nvSpPr>
          <p:cNvPr name="TextBox 9" id="9"/>
          <p:cNvSpPr txBox="true"/>
          <p:nvPr/>
        </p:nvSpPr>
        <p:spPr>
          <a:xfrm rot="0">
            <a:off x="6824213" y="3380774"/>
            <a:ext cx="7929515"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ACTUALIDAD</a:t>
            </a:r>
          </a:p>
        </p:txBody>
      </p:sp>
      <p:sp>
        <p:nvSpPr>
          <p:cNvPr name="TextBox 10" id="10"/>
          <p:cNvSpPr txBox="true"/>
          <p:nvPr/>
        </p:nvSpPr>
        <p:spPr>
          <a:xfrm rot="0">
            <a:off x="7339370" y="3911235"/>
            <a:ext cx="5199431" cy="362585"/>
          </a:xfrm>
          <a:prstGeom prst="rect">
            <a:avLst/>
          </a:prstGeom>
        </p:spPr>
        <p:txBody>
          <a:bodyPr anchor="t" rtlCol="false" tIns="0" lIns="0" bIns="0" rIns="0">
            <a:spAutoFit/>
          </a:bodyPr>
          <a:lstStyle/>
          <a:p>
            <a:pPr algn="l">
              <a:lnSpc>
                <a:spcPts val="2620"/>
              </a:lnSpc>
            </a:pPr>
            <a:r>
              <a:rPr lang="en-US" sz="2000" spc="40">
                <a:solidFill>
                  <a:srgbClr val="FFFFFF"/>
                </a:solidFill>
                <a:latin typeface="Codec Pro"/>
                <a:ea typeface="Codec Pro"/>
                <a:cs typeface="Codec Pro"/>
                <a:sym typeface="Codec Pro"/>
              </a:rPr>
              <a:t>¿De dónde partimos?</a:t>
            </a:r>
          </a:p>
        </p:txBody>
      </p:sp>
      <p:sp>
        <p:nvSpPr>
          <p:cNvPr name="TextBox 11" id="11"/>
          <p:cNvSpPr txBox="true"/>
          <p:nvPr/>
        </p:nvSpPr>
        <p:spPr>
          <a:xfrm rot="0">
            <a:off x="6824213" y="4663714"/>
            <a:ext cx="7929515"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DESCUBRIMIENTOS</a:t>
            </a:r>
          </a:p>
        </p:txBody>
      </p:sp>
      <p:sp>
        <p:nvSpPr>
          <p:cNvPr name="TextBox 12" id="12"/>
          <p:cNvSpPr txBox="true"/>
          <p:nvPr/>
        </p:nvSpPr>
        <p:spPr>
          <a:xfrm rot="0">
            <a:off x="7339370" y="5194175"/>
            <a:ext cx="5199431" cy="362585"/>
          </a:xfrm>
          <a:prstGeom prst="rect">
            <a:avLst/>
          </a:prstGeom>
        </p:spPr>
        <p:txBody>
          <a:bodyPr anchor="t" rtlCol="false" tIns="0" lIns="0" bIns="0" rIns="0">
            <a:spAutoFit/>
          </a:bodyPr>
          <a:lstStyle/>
          <a:p>
            <a:pPr algn="l">
              <a:lnSpc>
                <a:spcPts val="2620"/>
              </a:lnSpc>
            </a:pPr>
            <a:r>
              <a:rPr lang="en-US" sz="2000" spc="40">
                <a:solidFill>
                  <a:srgbClr val="FFFFFF"/>
                </a:solidFill>
                <a:latin typeface="Codec Pro"/>
                <a:ea typeface="Codec Pro"/>
                <a:cs typeface="Codec Pro"/>
                <a:sym typeface="Codec Pro"/>
              </a:rPr>
              <a:t>¿Qué podemos inferir?</a:t>
            </a:r>
          </a:p>
        </p:txBody>
      </p:sp>
      <p:sp>
        <p:nvSpPr>
          <p:cNvPr name="TextBox 13" id="13"/>
          <p:cNvSpPr txBox="true"/>
          <p:nvPr/>
        </p:nvSpPr>
        <p:spPr>
          <a:xfrm rot="0">
            <a:off x="6824213" y="5946654"/>
            <a:ext cx="7929515"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META FINAL</a:t>
            </a:r>
          </a:p>
        </p:txBody>
      </p:sp>
      <p:sp>
        <p:nvSpPr>
          <p:cNvPr name="TextBox 14" id="14"/>
          <p:cNvSpPr txBox="true"/>
          <p:nvPr/>
        </p:nvSpPr>
        <p:spPr>
          <a:xfrm rot="0">
            <a:off x="7339370" y="6477115"/>
            <a:ext cx="5199431" cy="362585"/>
          </a:xfrm>
          <a:prstGeom prst="rect">
            <a:avLst/>
          </a:prstGeom>
        </p:spPr>
        <p:txBody>
          <a:bodyPr anchor="t" rtlCol="false" tIns="0" lIns="0" bIns="0" rIns="0">
            <a:spAutoFit/>
          </a:bodyPr>
          <a:lstStyle/>
          <a:p>
            <a:pPr algn="l">
              <a:lnSpc>
                <a:spcPts val="2620"/>
              </a:lnSpc>
            </a:pPr>
            <a:r>
              <a:rPr lang="en-US" sz="2000" spc="40">
                <a:solidFill>
                  <a:srgbClr val="FFFFFF"/>
                </a:solidFill>
                <a:latin typeface="Codec Pro"/>
                <a:ea typeface="Codec Pro"/>
                <a:cs typeface="Codec Pro"/>
                <a:sym typeface="Codec Pro"/>
              </a:rPr>
              <a:t>¿A dónde queremos llegar?</a:t>
            </a:r>
          </a:p>
        </p:txBody>
      </p:sp>
      <p:sp>
        <p:nvSpPr>
          <p:cNvPr name="TextBox 15" id="15"/>
          <p:cNvSpPr txBox="true"/>
          <p:nvPr/>
        </p:nvSpPr>
        <p:spPr>
          <a:xfrm rot="0">
            <a:off x="6824213" y="7229594"/>
            <a:ext cx="7929515"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RUTA DE ACCIÓN</a:t>
            </a:r>
          </a:p>
        </p:txBody>
      </p:sp>
      <p:sp>
        <p:nvSpPr>
          <p:cNvPr name="TextBox 16" id="16"/>
          <p:cNvSpPr txBox="true"/>
          <p:nvPr/>
        </p:nvSpPr>
        <p:spPr>
          <a:xfrm rot="0">
            <a:off x="7339370" y="7760055"/>
            <a:ext cx="5199431" cy="362585"/>
          </a:xfrm>
          <a:prstGeom prst="rect">
            <a:avLst/>
          </a:prstGeom>
        </p:spPr>
        <p:txBody>
          <a:bodyPr anchor="t" rtlCol="false" tIns="0" lIns="0" bIns="0" rIns="0">
            <a:spAutoFit/>
          </a:bodyPr>
          <a:lstStyle/>
          <a:p>
            <a:pPr algn="l">
              <a:lnSpc>
                <a:spcPts val="2620"/>
              </a:lnSpc>
            </a:pPr>
            <a:r>
              <a:rPr lang="en-US" sz="2000" spc="40">
                <a:solidFill>
                  <a:srgbClr val="FFFFFF"/>
                </a:solidFill>
                <a:latin typeface="Codec Pro"/>
                <a:ea typeface="Codec Pro"/>
                <a:cs typeface="Codec Pro"/>
                <a:sym typeface="Codec Pro"/>
              </a:rPr>
              <a:t>¿Cómo logramos nuestro objetivo?</a:t>
            </a:r>
          </a:p>
        </p:txBody>
      </p:sp>
      <p:grpSp>
        <p:nvGrpSpPr>
          <p:cNvPr name="Group 17" id="17"/>
          <p:cNvGrpSpPr/>
          <p:nvPr/>
        </p:nvGrpSpPr>
        <p:grpSpPr>
          <a:xfrm rot="0">
            <a:off x="6334823" y="3447449"/>
            <a:ext cx="264078" cy="264078"/>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9" id="19"/>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20" id="20"/>
          <p:cNvGrpSpPr/>
          <p:nvPr/>
        </p:nvGrpSpPr>
        <p:grpSpPr>
          <a:xfrm rot="0">
            <a:off x="6344348" y="4730389"/>
            <a:ext cx="264078" cy="26407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23" id="23"/>
          <p:cNvGrpSpPr/>
          <p:nvPr/>
        </p:nvGrpSpPr>
        <p:grpSpPr>
          <a:xfrm rot="0">
            <a:off x="6334823" y="6013329"/>
            <a:ext cx="264078" cy="264078"/>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grpSp>
        <p:nvGrpSpPr>
          <p:cNvPr name="Group 26" id="26"/>
          <p:cNvGrpSpPr/>
          <p:nvPr/>
        </p:nvGrpSpPr>
        <p:grpSpPr>
          <a:xfrm rot="0">
            <a:off x="6339586" y="7296269"/>
            <a:ext cx="264078" cy="26407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8" id="28"/>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TextBox 4" id="4"/>
          <p:cNvSpPr txBox="true"/>
          <p:nvPr/>
        </p:nvSpPr>
        <p:spPr>
          <a:xfrm rot="0">
            <a:off x="2413184" y="4223785"/>
            <a:ext cx="12318716" cy="1174750"/>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INTRODUCCIÓN</a:t>
            </a:r>
          </a:p>
        </p:txBody>
      </p:sp>
      <p:sp>
        <p:nvSpPr>
          <p:cNvPr name="TextBox 5" id="5"/>
          <p:cNvSpPr txBox="true"/>
          <p:nvPr/>
        </p:nvSpPr>
        <p:spPr>
          <a:xfrm rot="0">
            <a:off x="2413184" y="5430501"/>
            <a:ext cx="8322568" cy="670815"/>
          </a:xfrm>
          <a:prstGeom prst="rect">
            <a:avLst/>
          </a:prstGeom>
        </p:spPr>
        <p:txBody>
          <a:bodyPr anchor="t" rtlCol="false" tIns="0" lIns="0" bIns="0" rIns="0">
            <a:spAutoFit/>
          </a:bodyPr>
          <a:lstStyle/>
          <a:p>
            <a:pPr algn="l">
              <a:lnSpc>
                <a:spcPts val="4977"/>
              </a:lnSpc>
            </a:pPr>
            <a:r>
              <a:rPr lang="en-US" sz="3799" spc="75">
                <a:solidFill>
                  <a:srgbClr val="FFFFFF"/>
                </a:solidFill>
                <a:latin typeface="Codec Pro"/>
                <a:ea typeface="Codec Pro"/>
                <a:cs typeface="Codec Pro"/>
                <a:sym typeface="Codec Pro"/>
              </a:rPr>
              <a:t>NUESTRA METODOLOGÍA</a:t>
            </a:r>
          </a:p>
        </p:txBody>
      </p:sp>
      <p:sp>
        <p:nvSpPr>
          <p:cNvPr name="TextBox 6" id="6"/>
          <p:cNvSpPr txBox="true"/>
          <p:nvPr/>
        </p:nvSpPr>
        <p:spPr>
          <a:xfrm rot="0">
            <a:off x="442957" y="3854852"/>
            <a:ext cx="1728747" cy="2388683"/>
          </a:xfrm>
          <a:prstGeom prst="rect">
            <a:avLst/>
          </a:prstGeom>
        </p:spPr>
        <p:txBody>
          <a:bodyPr anchor="t" rtlCol="false" tIns="0" lIns="0" bIns="0" rIns="0">
            <a:spAutoFit/>
          </a:bodyPr>
          <a:lstStyle/>
          <a:p>
            <a:pPr algn="ctr">
              <a:lnSpc>
                <a:spcPts val="18616"/>
              </a:lnSpc>
            </a:pPr>
            <a:r>
              <a:rPr lang="en-US" sz="16188" spc="696">
                <a:solidFill>
                  <a:srgbClr val="FFFFFF"/>
                </a:solidFill>
                <a:latin typeface="Oswald"/>
                <a:ea typeface="Oswald"/>
                <a:cs typeface="Oswald"/>
                <a:sym typeface="Oswald"/>
              </a:rPr>
              <a:t>1</a:t>
            </a:r>
          </a:p>
        </p:txBody>
      </p:sp>
      <p:sp>
        <p:nvSpPr>
          <p:cNvPr name="AutoShape 7" id="7"/>
          <p:cNvSpPr/>
          <p:nvPr/>
        </p:nvSpPr>
        <p:spPr>
          <a:xfrm rot="0">
            <a:off x="1732555" y="5114925"/>
            <a:ext cx="439149"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3279284"/>
            <a:chOff x="0" y="0"/>
            <a:chExt cx="4816593" cy="863680"/>
          </a:xfrm>
        </p:grpSpPr>
        <p:sp>
          <p:nvSpPr>
            <p:cNvPr name="Freeform 3" id="3"/>
            <p:cNvSpPr/>
            <p:nvPr/>
          </p:nvSpPr>
          <p:spPr>
            <a:xfrm flipH="false" flipV="false" rot="0">
              <a:off x="0" y="0"/>
              <a:ext cx="4816592" cy="863680"/>
            </a:xfrm>
            <a:custGeom>
              <a:avLst/>
              <a:gdLst/>
              <a:ahLst/>
              <a:cxnLst/>
              <a:rect r="r" b="b" t="t" l="l"/>
              <a:pathLst>
                <a:path h="863680" w="4816592">
                  <a:moveTo>
                    <a:pt x="0" y="0"/>
                  </a:moveTo>
                  <a:lnTo>
                    <a:pt x="4816592" y="0"/>
                  </a:lnTo>
                  <a:lnTo>
                    <a:pt x="4816592" y="863680"/>
                  </a:lnTo>
                  <a:lnTo>
                    <a:pt x="0" y="863680"/>
                  </a:lnTo>
                  <a:close/>
                </a:path>
              </a:pathLst>
            </a:custGeom>
            <a:solidFill>
              <a:srgbClr val="132232"/>
            </a:solidFill>
          </p:spPr>
        </p:sp>
        <p:sp>
          <p:nvSpPr>
            <p:cNvPr name="TextBox 4" id="4"/>
            <p:cNvSpPr txBox="true"/>
            <p:nvPr/>
          </p:nvSpPr>
          <p:spPr>
            <a:xfrm>
              <a:off x="0" y="-66675"/>
              <a:ext cx="4816593" cy="930355"/>
            </a:xfrm>
            <a:prstGeom prst="rect">
              <a:avLst/>
            </a:prstGeom>
          </p:spPr>
          <p:txBody>
            <a:bodyPr anchor="ctr" rtlCol="false" tIns="50800" lIns="50800" bIns="50800" rIns="50800"/>
            <a:lstStyle/>
            <a:p>
              <a:pPr algn="ctr">
                <a:lnSpc>
                  <a:spcPts val="3624"/>
                </a:lnSpc>
              </a:pPr>
            </a:p>
          </p:txBody>
        </p:sp>
      </p:grpSp>
      <p:sp>
        <p:nvSpPr>
          <p:cNvPr name="AutoShape 5" id="5"/>
          <p:cNvSpPr/>
          <p:nvPr/>
        </p:nvSpPr>
        <p:spPr>
          <a:xfrm rot="0">
            <a:off x="0" y="5847078"/>
            <a:ext cx="19355066" cy="0"/>
          </a:xfrm>
          <a:prstGeom prst="line">
            <a:avLst/>
          </a:prstGeom>
          <a:ln cap="flat" w="9525">
            <a:solidFill>
              <a:srgbClr val="132232"/>
            </a:solidFill>
            <a:prstDash val="solid"/>
            <a:headEnd type="none" len="sm" w="sm"/>
            <a:tailEnd type="none" len="sm" w="sm"/>
          </a:ln>
        </p:spPr>
      </p:sp>
      <p:grpSp>
        <p:nvGrpSpPr>
          <p:cNvPr name="Group 6" id="6"/>
          <p:cNvGrpSpPr/>
          <p:nvPr/>
        </p:nvGrpSpPr>
        <p:grpSpPr>
          <a:xfrm rot="0">
            <a:off x="2236424" y="5605469"/>
            <a:ext cx="437873" cy="437873"/>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2232"/>
            </a:solidFill>
          </p:spPr>
        </p:sp>
        <p:sp>
          <p:nvSpPr>
            <p:cNvPr name="TextBox 8" id="8"/>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TextBox 9" id="9"/>
          <p:cNvSpPr txBox="true"/>
          <p:nvPr/>
        </p:nvSpPr>
        <p:spPr>
          <a:xfrm rot="0">
            <a:off x="1028700" y="6130655"/>
            <a:ext cx="2853320" cy="365013"/>
          </a:xfrm>
          <a:prstGeom prst="rect">
            <a:avLst/>
          </a:prstGeom>
        </p:spPr>
        <p:txBody>
          <a:bodyPr anchor="t" rtlCol="false" tIns="0" lIns="0" bIns="0" rIns="0">
            <a:spAutoFit/>
          </a:bodyPr>
          <a:lstStyle/>
          <a:p>
            <a:pPr algn="ctr">
              <a:lnSpc>
                <a:spcPts val="2900"/>
              </a:lnSpc>
            </a:pPr>
            <a:r>
              <a:rPr lang="en-US" sz="2000" spc="188">
                <a:solidFill>
                  <a:srgbClr val="000000"/>
                </a:solidFill>
                <a:latin typeface="Glacial Indifference"/>
                <a:ea typeface="Glacial Indifference"/>
                <a:cs typeface="Glacial Indifference"/>
                <a:sym typeface="Glacial Indifference"/>
              </a:rPr>
              <a:t>RECONOCIMIENTO</a:t>
            </a:r>
          </a:p>
        </p:txBody>
      </p:sp>
      <p:grpSp>
        <p:nvGrpSpPr>
          <p:cNvPr name="Group 10" id="10"/>
          <p:cNvGrpSpPr/>
          <p:nvPr/>
        </p:nvGrpSpPr>
        <p:grpSpPr>
          <a:xfrm rot="0">
            <a:off x="6683647" y="5605469"/>
            <a:ext cx="437873" cy="437873"/>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2232"/>
            </a:soli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TextBox 13" id="13"/>
          <p:cNvSpPr txBox="true"/>
          <p:nvPr/>
        </p:nvSpPr>
        <p:spPr>
          <a:xfrm rot="0">
            <a:off x="5475923" y="6130655"/>
            <a:ext cx="2853320" cy="365013"/>
          </a:xfrm>
          <a:prstGeom prst="rect">
            <a:avLst/>
          </a:prstGeom>
        </p:spPr>
        <p:txBody>
          <a:bodyPr anchor="t" rtlCol="false" tIns="0" lIns="0" bIns="0" rIns="0">
            <a:spAutoFit/>
          </a:bodyPr>
          <a:lstStyle/>
          <a:p>
            <a:pPr algn="ctr">
              <a:lnSpc>
                <a:spcPts val="2900"/>
              </a:lnSpc>
            </a:pPr>
            <a:r>
              <a:rPr lang="en-US" sz="2000" spc="188">
                <a:solidFill>
                  <a:srgbClr val="000000"/>
                </a:solidFill>
                <a:latin typeface="Glacial Indifference"/>
                <a:ea typeface="Glacial Indifference"/>
                <a:cs typeface="Glacial Indifference"/>
                <a:sym typeface="Glacial Indifference"/>
              </a:rPr>
              <a:t>ANÁLISIS</a:t>
            </a:r>
          </a:p>
        </p:txBody>
      </p:sp>
      <p:grpSp>
        <p:nvGrpSpPr>
          <p:cNvPr name="Group 14" id="14"/>
          <p:cNvGrpSpPr/>
          <p:nvPr/>
        </p:nvGrpSpPr>
        <p:grpSpPr>
          <a:xfrm rot="0">
            <a:off x="11181927" y="5605469"/>
            <a:ext cx="437873" cy="437873"/>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2232"/>
            </a:solidFill>
          </p:spPr>
        </p:sp>
        <p:sp>
          <p:nvSpPr>
            <p:cNvPr name="TextBox 16" id="16"/>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TextBox 17" id="17"/>
          <p:cNvSpPr txBox="true"/>
          <p:nvPr/>
        </p:nvSpPr>
        <p:spPr>
          <a:xfrm rot="0">
            <a:off x="9974203" y="6130655"/>
            <a:ext cx="2853320" cy="365013"/>
          </a:xfrm>
          <a:prstGeom prst="rect">
            <a:avLst/>
          </a:prstGeom>
        </p:spPr>
        <p:txBody>
          <a:bodyPr anchor="t" rtlCol="false" tIns="0" lIns="0" bIns="0" rIns="0">
            <a:spAutoFit/>
          </a:bodyPr>
          <a:lstStyle/>
          <a:p>
            <a:pPr algn="ctr">
              <a:lnSpc>
                <a:spcPts val="2900"/>
              </a:lnSpc>
            </a:pPr>
            <a:r>
              <a:rPr lang="en-US" sz="2000" spc="188">
                <a:solidFill>
                  <a:srgbClr val="000000"/>
                </a:solidFill>
                <a:latin typeface="Glacial Indifference"/>
                <a:ea typeface="Glacial Indifference"/>
                <a:cs typeface="Glacial Indifference"/>
                <a:sym typeface="Glacial Indifference"/>
              </a:rPr>
              <a:t>PLANEACIÓN</a:t>
            </a:r>
          </a:p>
        </p:txBody>
      </p:sp>
      <p:grpSp>
        <p:nvGrpSpPr>
          <p:cNvPr name="Group 18" id="18"/>
          <p:cNvGrpSpPr/>
          <p:nvPr/>
        </p:nvGrpSpPr>
        <p:grpSpPr>
          <a:xfrm rot="0">
            <a:off x="15578093" y="5605469"/>
            <a:ext cx="437873" cy="43787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32232"/>
            </a:solidFill>
          </p:spPr>
        </p:sp>
        <p:sp>
          <p:nvSpPr>
            <p:cNvPr name="TextBox 20" id="20"/>
            <p:cNvSpPr txBox="true"/>
            <p:nvPr/>
          </p:nvSpPr>
          <p:spPr>
            <a:xfrm>
              <a:off x="76200" y="9525"/>
              <a:ext cx="660400" cy="727075"/>
            </a:xfrm>
            <a:prstGeom prst="rect">
              <a:avLst/>
            </a:prstGeom>
          </p:spPr>
          <p:txBody>
            <a:bodyPr anchor="ctr" rtlCol="false" tIns="50800" lIns="50800" bIns="50800" rIns="50800"/>
            <a:lstStyle/>
            <a:p>
              <a:pPr algn="ctr">
                <a:lnSpc>
                  <a:spcPts val="3624"/>
                </a:lnSpc>
              </a:pPr>
            </a:p>
          </p:txBody>
        </p:sp>
      </p:grpSp>
      <p:sp>
        <p:nvSpPr>
          <p:cNvPr name="TextBox 21" id="21"/>
          <p:cNvSpPr txBox="true"/>
          <p:nvPr/>
        </p:nvSpPr>
        <p:spPr>
          <a:xfrm rot="0">
            <a:off x="14370369" y="6130655"/>
            <a:ext cx="2853320" cy="365013"/>
          </a:xfrm>
          <a:prstGeom prst="rect">
            <a:avLst/>
          </a:prstGeom>
        </p:spPr>
        <p:txBody>
          <a:bodyPr anchor="t" rtlCol="false" tIns="0" lIns="0" bIns="0" rIns="0">
            <a:spAutoFit/>
          </a:bodyPr>
          <a:lstStyle/>
          <a:p>
            <a:pPr algn="ctr">
              <a:lnSpc>
                <a:spcPts val="2900"/>
              </a:lnSpc>
            </a:pPr>
            <a:r>
              <a:rPr lang="en-US" sz="2000" spc="188">
                <a:solidFill>
                  <a:srgbClr val="000000"/>
                </a:solidFill>
                <a:latin typeface="Glacial Indifference"/>
                <a:ea typeface="Glacial Indifference"/>
                <a:cs typeface="Glacial Indifference"/>
                <a:sym typeface="Glacial Indifference"/>
              </a:rPr>
              <a:t>EJECUCIÓN</a:t>
            </a:r>
          </a:p>
        </p:txBody>
      </p:sp>
      <p:sp>
        <p:nvSpPr>
          <p:cNvPr name="Freeform 22" id="22"/>
          <p:cNvSpPr/>
          <p:nvPr/>
        </p:nvSpPr>
        <p:spPr>
          <a:xfrm flipH="false" flipV="false" rot="0">
            <a:off x="11070835" y="4738062"/>
            <a:ext cx="660057" cy="677298"/>
          </a:xfrm>
          <a:custGeom>
            <a:avLst/>
            <a:gdLst/>
            <a:ahLst/>
            <a:cxnLst/>
            <a:rect r="r" b="b" t="t" l="l"/>
            <a:pathLst>
              <a:path h="677298" w="660057">
                <a:moveTo>
                  <a:pt x="0" y="0"/>
                </a:moveTo>
                <a:lnTo>
                  <a:pt x="660057" y="0"/>
                </a:lnTo>
                <a:lnTo>
                  <a:pt x="660057" y="677298"/>
                </a:lnTo>
                <a:lnTo>
                  <a:pt x="0" y="6772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3" id="23"/>
          <p:cNvSpPr/>
          <p:nvPr/>
        </p:nvSpPr>
        <p:spPr>
          <a:xfrm flipH="false" flipV="false" rot="0">
            <a:off x="6667992" y="4738062"/>
            <a:ext cx="469183" cy="677298"/>
          </a:xfrm>
          <a:custGeom>
            <a:avLst/>
            <a:gdLst/>
            <a:ahLst/>
            <a:cxnLst/>
            <a:rect r="r" b="b" t="t" l="l"/>
            <a:pathLst>
              <a:path h="677298" w="469183">
                <a:moveTo>
                  <a:pt x="0" y="0"/>
                </a:moveTo>
                <a:lnTo>
                  <a:pt x="469182" y="0"/>
                </a:lnTo>
                <a:lnTo>
                  <a:pt x="469182" y="677298"/>
                </a:lnTo>
                <a:lnTo>
                  <a:pt x="0" y="67729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4" id="24"/>
          <p:cNvSpPr/>
          <p:nvPr/>
        </p:nvSpPr>
        <p:spPr>
          <a:xfrm flipH="false" flipV="false" rot="0">
            <a:off x="15478150" y="4852450"/>
            <a:ext cx="637758" cy="582099"/>
          </a:xfrm>
          <a:custGeom>
            <a:avLst/>
            <a:gdLst/>
            <a:ahLst/>
            <a:cxnLst/>
            <a:rect r="r" b="b" t="t" l="l"/>
            <a:pathLst>
              <a:path h="582099" w="637758">
                <a:moveTo>
                  <a:pt x="0" y="0"/>
                </a:moveTo>
                <a:lnTo>
                  <a:pt x="637758" y="0"/>
                </a:lnTo>
                <a:lnTo>
                  <a:pt x="637758" y="582100"/>
                </a:lnTo>
                <a:lnTo>
                  <a:pt x="0" y="5821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5" id="25"/>
          <p:cNvSpPr/>
          <p:nvPr/>
        </p:nvSpPr>
        <p:spPr>
          <a:xfrm flipH="false" flipV="false" rot="0">
            <a:off x="2136296" y="4757647"/>
            <a:ext cx="638127" cy="638127"/>
          </a:xfrm>
          <a:custGeom>
            <a:avLst/>
            <a:gdLst/>
            <a:ahLst/>
            <a:cxnLst/>
            <a:rect r="r" b="b" t="t" l="l"/>
            <a:pathLst>
              <a:path h="638127" w="638127">
                <a:moveTo>
                  <a:pt x="0" y="0"/>
                </a:moveTo>
                <a:lnTo>
                  <a:pt x="638127" y="0"/>
                </a:lnTo>
                <a:lnTo>
                  <a:pt x="638127" y="638127"/>
                </a:lnTo>
                <a:lnTo>
                  <a:pt x="0" y="6381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26" id="26"/>
          <p:cNvSpPr txBox="true"/>
          <p:nvPr/>
        </p:nvSpPr>
        <p:spPr>
          <a:xfrm rot="0">
            <a:off x="732029" y="6552818"/>
            <a:ext cx="3446661" cy="1966976"/>
          </a:xfrm>
          <a:prstGeom prst="rect">
            <a:avLst/>
          </a:prstGeom>
        </p:spPr>
        <p:txBody>
          <a:bodyPr anchor="t" rtlCol="false" tIns="0" lIns="0" bIns="0" rIns="0">
            <a:spAutoFit/>
          </a:bodyPr>
          <a:lstStyle/>
          <a:p>
            <a:pPr algn="l" marL="0" indent="0" lvl="0">
              <a:lnSpc>
                <a:spcPts val="2227"/>
              </a:lnSpc>
              <a:spcBef>
                <a:spcPct val="0"/>
              </a:spcBef>
            </a:pPr>
            <a:r>
              <a:rPr lang="en-US" sz="1700" spc="34"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27" id="27"/>
          <p:cNvSpPr txBox="true"/>
          <p:nvPr/>
        </p:nvSpPr>
        <p:spPr>
          <a:xfrm rot="0">
            <a:off x="5179253" y="6552818"/>
            <a:ext cx="3446661" cy="1966976"/>
          </a:xfrm>
          <a:prstGeom prst="rect">
            <a:avLst/>
          </a:prstGeom>
        </p:spPr>
        <p:txBody>
          <a:bodyPr anchor="t" rtlCol="false" tIns="0" lIns="0" bIns="0" rIns="0">
            <a:spAutoFit/>
          </a:bodyPr>
          <a:lstStyle/>
          <a:p>
            <a:pPr algn="l" marL="0" indent="0" lvl="0">
              <a:lnSpc>
                <a:spcPts val="2227"/>
              </a:lnSpc>
              <a:spcBef>
                <a:spcPct val="0"/>
              </a:spcBef>
            </a:pPr>
            <a:r>
              <a:rPr lang="en-US" sz="1700" spc="34"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28" id="28"/>
          <p:cNvSpPr txBox="true"/>
          <p:nvPr/>
        </p:nvSpPr>
        <p:spPr>
          <a:xfrm rot="0">
            <a:off x="9677533" y="6552818"/>
            <a:ext cx="3446661" cy="1966976"/>
          </a:xfrm>
          <a:prstGeom prst="rect">
            <a:avLst/>
          </a:prstGeom>
        </p:spPr>
        <p:txBody>
          <a:bodyPr anchor="t" rtlCol="false" tIns="0" lIns="0" bIns="0" rIns="0">
            <a:spAutoFit/>
          </a:bodyPr>
          <a:lstStyle/>
          <a:p>
            <a:pPr algn="l" marL="0" indent="0" lvl="0">
              <a:lnSpc>
                <a:spcPts val="2227"/>
              </a:lnSpc>
              <a:spcBef>
                <a:spcPct val="0"/>
              </a:spcBef>
            </a:pPr>
            <a:r>
              <a:rPr lang="en-US" sz="1700" spc="34"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29" id="29"/>
          <p:cNvSpPr txBox="true"/>
          <p:nvPr/>
        </p:nvSpPr>
        <p:spPr>
          <a:xfrm rot="0">
            <a:off x="14073699" y="6552818"/>
            <a:ext cx="3446661" cy="1966976"/>
          </a:xfrm>
          <a:prstGeom prst="rect">
            <a:avLst/>
          </a:prstGeom>
        </p:spPr>
        <p:txBody>
          <a:bodyPr anchor="t" rtlCol="false" tIns="0" lIns="0" bIns="0" rIns="0">
            <a:spAutoFit/>
          </a:bodyPr>
          <a:lstStyle/>
          <a:p>
            <a:pPr algn="l" marL="0" indent="0" lvl="0">
              <a:lnSpc>
                <a:spcPts val="2227"/>
              </a:lnSpc>
              <a:spcBef>
                <a:spcPct val="0"/>
              </a:spcBef>
            </a:pPr>
            <a:r>
              <a:rPr lang="en-US" sz="1700" spc="34"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30" id="30"/>
          <p:cNvSpPr txBox="true"/>
          <p:nvPr/>
        </p:nvSpPr>
        <p:spPr>
          <a:xfrm rot="0">
            <a:off x="1028700" y="1066763"/>
            <a:ext cx="13103867" cy="1174750"/>
          </a:xfrm>
          <a:prstGeom prst="rect">
            <a:avLst/>
          </a:prstGeom>
        </p:spPr>
        <p:txBody>
          <a:bodyPr anchor="t" rtlCol="false" tIns="0" lIns="0" bIns="0" rIns="0">
            <a:spAutoFit/>
          </a:bodyPr>
          <a:lstStyle/>
          <a:p>
            <a:pPr algn="l">
              <a:lnSpc>
                <a:spcPts val="9200"/>
              </a:lnSpc>
            </a:pPr>
            <a:r>
              <a:rPr lang="en-US" sz="8000">
                <a:solidFill>
                  <a:srgbClr val="FFFFFF"/>
                </a:solidFill>
                <a:latin typeface="Oswald"/>
                <a:ea typeface="Oswald"/>
                <a:cs typeface="Oswald"/>
                <a:sym typeface="Oswald"/>
              </a:rPr>
              <a:t>INTRODUCCIÓN</a:t>
            </a:r>
          </a:p>
        </p:txBody>
      </p:sp>
      <p:sp>
        <p:nvSpPr>
          <p:cNvPr name="TextBox 31" id="31"/>
          <p:cNvSpPr txBox="true"/>
          <p:nvPr/>
        </p:nvSpPr>
        <p:spPr>
          <a:xfrm rot="0">
            <a:off x="1028700" y="2287435"/>
            <a:ext cx="7929515" cy="444500"/>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NUESTRA METODOLOGÍA</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TextBox 4" id="4"/>
          <p:cNvSpPr txBox="true"/>
          <p:nvPr/>
        </p:nvSpPr>
        <p:spPr>
          <a:xfrm rot="0">
            <a:off x="2574170" y="4223822"/>
            <a:ext cx="12318716" cy="1174676"/>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SITUACIÓN ACTUAL</a:t>
            </a:r>
          </a:p>
        </p:txBody>
      </p:sp>
      <p:sp>
        <p:nvSpPr>
          <p:cNvPr name="TextBox 5" id="5"/>
          <p:cNvSpPr txBox="true"/>
          <p:nvPr/>
        </p:nvSpPr>
        <p:spPr>
          <a:xfrm rot="0">
            <a:off x="2574170" y="5430501"/>
            <a:ext cx="8322568" cy="670815"/>
          </a:xfrm>
          <a:prstGeom prst="rect">
            <a:avLst/>
          </a:prstGeom>
        </p:spPr>
        <p:txBody>
          <a:bodyPr anchor="t" rtlCol="false" tIns="0" lIns="0" bIns="0" rIns="0">
            <a:spAutoFit/>
          </a:bodyPr>
          <a:lstStyle/>
          <a:p>
            <a:pPr algn="l">
              <a:lnSpc>
                <a:spcPts val="4977"/>
              </a:lnSpc>
            </a:pPr>
            <a:r>
              <a:rPr lang="en-US" sz="3799" spc="75">
                <a:solidFill>
                  <a:srgbClr val="FFFFFF"/>
                </a:solidFill>
                <a:latin typeface="Codec Pro"/>
                <a:ea typeface="Codec Pro"/>
                <a:cs typeface="Codec Pro"/>
                <a:sym typeface="Codec Pro"/>
              </a:rPr>
              <a:t>¿DE DÓNDE PARTIMOS?</a:t>
            </a:r>
          </a:p>
        </p:txBody>
      </p:sp>
      <p:sp>
        <p:nvSpPr>
          <p:cNvPr name="TextBox 6" id="6"/>
          <p:cNvSpPr txBox="true"/>
          <p:nvPr/>
        </p:nvSpPr>
        <p:spPr>
          <a:xfrm rot="0">
            <a:off x="442957" y="3854852"/>
            <a:ext cx="1728747" cy="2388683"/>
          </a:xfrm>
          <a:prstGeom prst="rect">
            <a:avLst/>
          </a:prstGeom>
        </p:spPr>
        <p:txBody>
          <a:bodyPr anchor="t" rtlCol="false" tIns="0" lIns="0" bIns="0" rIns="0">
            <a:spAutoFit/>
          </a:bodyPr>
          <a:lstStyle/>
          <a:p>
            <a:pPr algn="ctr">
              <a:lnSpc>
                <a:spcPts val="18616"/>
              </a:lnSpc>
            </a:pPr>
            <a:r>
              <a:rPr lang="en-US" sz="16188" spc="696">
                <a:solidFill>
                  <a:srgbClr val="FFFFFF"/>
                </a:solidFill>
                <a:latin typeface="Oswald"/>
                <a:ea typeface="Oswald"/>
                <a:cs typeface="Oswald"/>
                <a:sym typeface="Oswald"/>
              </a:rPr>
              <a:t>2</a:t>
            </a:r>
          </a:p>
        </p:txBody>
      </p:sp>
      <p:sp>
        <p:nvSpPr>
          <p:cNvPr name="AutoShape 7" id="7"/>
          <p:cNvSpPr/>
          <p:nvPr/>
        </p:nvSpPr>
        <p:spPr>
          <a:xfrm rot="0">
            <a:off x="1952130" y="5143500"/>
            <a:ext cx="439149"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906257" cy="10287000"/>
            <a:chOff x="0" y="0"/>
            <a:chExt cx="1818932" cy="2709333"/>
          </a:xfrm>
        </p:grpSpPr>
        <p:sp>
          <p:nvSpPr>
            <p:cNvPr name="Freeform 3" id="3"/>
            <p:cNvSpPr/>
            <p:nvPr/>
          </p:nvSpPr>
          <p:spPr>
            <a:xfrm flipH="false" flipV="false" rot="0">
              <a:off x="0" y="0"/>
              <a:ext cx="1818932" cy="2709333"/>
            </a:xfrm>
            <a:custGeom>
              <a:avLst/>
              <a:gdLst/>
              <a:ahLst/>
              <a:cxnLst/>
              <a:rect r="r" b="b" t="t" l="l"/>
              <a:pathLst>
                <a:path h="2709333" w="1818932">
                  <a:moveTo>
                    <a:pt x="0" y="0"/>
                  </a:moveTo>
                  <a:lnTo>
                    <a:pt x="1818932" y="0"/>
                  </a:lnTo>
                  <a:lnTo>
                    <a:pt x="1818932" y="2709333"/>
                  </a:lnTo>
                  <a:lnTo>
                    <a:pt x="0" y="2709333"/>
                  </a:lnTo>
                  <a:close/>
                </a:path>
              </a:pathLst>
            </a:custGeom>
            <a:solidFill>
              <a:srgbClr val="132232"/>
            </a:solidFill>
          </p:spPr>
        </p:sp>
        <p:sp>
          <p:nvSpPr>
            <p:cNvPr name="TextBox 4" id="4"/>
            <p:cNvSpPr txBox="true"/>
            <p:nvPr/>
          </p:nvSpPr>
          <p:spPr>
            <a:xfrm>
              <a:off x="0" y="-66675"/>
              <a:ext cx="1818932" cy="2776008"/>
            </a:xfrm>
            <a:prstGeom prst="rect">
              <a:avLst/>
            </a:prstGeom>
          </p:spPr>
          <p:txBody>
            <a:bodyPr anchor="ctr" rtlCol="false" tIns="50800" lIns="50800" bIns="50800" rIns="50800"/>
            <a:lstStyle/>
            <a:p>
              <a:pPr algn="ctr">
                <a:lnSpc>
                  <a:spcPts val="3624"/>
                </a:lnSpc>
              </a:pPr>
            </a:p>
          </p:txBody>
        </p:sp>
      </p:grpSp>
      <p:grpSp>
        <p:nvGrpSpPr>
          <p:cNvPr name="Group 5" id="5"/>
          <p:cNvGrpSpPr/>
          <p:nvPr/>
        </p:nvGrpSpPr>
        <p:grpSpPr>
          <a:xfrm rot="0">
            <a:off x="524238" y="2936460"/>
            <a:ext cx="5857780" cy="3867000"/>
            <a:chOff x="0" y="0"/>
            <a:chExt cx="7810373" cy="5156000"/>
          </a:xfrm>
        </p:grpSpPr>
        <p:sp>
          <p:nvSpPr>
            <p:cNvPr name="TextBox 6" id="6"/>
            <p:cNvSpPr txBox="true"/>
            <p:nvPr/>
          </p:nvSpPr>
          <p:spPr>
            <a:xfrm rot="0">
              <a:off x="0" y="38100"/>
              <a:ext cx="7810373" cy="2867157"/>
            </a:xfrm>
            <a:prstGeom prst="rect">
              <a:avLst/>
            </a:prstGeom>
          </p:spPr>
          <p:txBody>
            <a:bodyPr anchor="t" rtlCol="false" tIns="0" lIns="0" bIns="0" rIns="0">
              <a:spAutoFit/>
            </a:bodyPr>
            <a:lstStyle/>
            <a:p>
              <a:pPr algn="l">
                <a:lnSpc>
                  <a:spcPts val="8441"/>
                </a:lnSpc>
              </a:pPr>
              <a:r>
                <a:rPr lang="en-US" sz="7340">
                  <a:solidFill>
                    <a:srgbClr val="FFFFFF"/>
                  </a:solidFill>
                  <a:latin typeface="Oswald"/>
                  <a:ea typeface="Oswald"/>
                  <a:cs typeface="Oswald"/>
                  <a:sym typeface="Oswald"/>
                </a:rPr>
                <a:t>SITUACIÓN ACTUAL</a:t>
              </a:r>
            </a:p>
          </p:txBody>
        </p:sp>
        <p:sp>
          <p:nvSpPr>
            <p:cNvPr name="TextBox 7" id="7"/>
            <p:cNvSpPr txBox="true"/>
            <p:nvPr/>
          </p:nvSpPr>
          <p:spPr>
            <a:xfrm rot="0">
              <a:off x="0" y="3073164"/>
              <a:ext cx="7050665" cy="1088240"/>
            </a:xfrm>
            <a:prstGeom prst="rect">
              <a:avLst/>
            </a:prstGeom>
          </p:spPr>
          <p:txBody>
            <a:bodyPr anchor="t" rtlCol="false" tIns="0" lIns="0" bIns="0" rIns="0">
              <a:spAutoFit/>
            </a:bodyPr>
            <a:lstStyle/>
            <a:p>
              <a:pPr algn="l">
                <a:lnSpc>
                  <a:spcPts val="3326"/>
                </a:lnSpc>
              </a:pPr>
              <a:r>
                <a:rPr lang="en-US" sz="2293" spc="215">
                  <a:solidFill>
                    <a:srgbClr val="FFFFFF"/>
                  </a:solidFill>
                  <a:latin typeface="Glacial Indifference"/>
                  <a:ea typeface="Glacial Indifference"/>
                  <a:cs typeface="Glacial Indifference"/>
                  <a:sym typeface="Glacial Indifference"/>
                </a:rPr>
                <a:t>EXPLORAMOS LA SITUACIÓN ACTUAL DE LA COMPAÑIA</a:t>
              </a:r>
            </a:p>
          </p:txBody>
        </p:sp>
        <p:sp>
          <p:nvSpPr>
            <p:cNvPr name="TextBox 8" id="8"/>
            <p:cNvSpPr txBox="true"/>
            <p:nvPr/>
          </p:nvSpPr>
          <p:spPr>
            <a:xfrm rot="0">
              <a:off x="0" y="4340639"/>
              <a:ext cx="7810373" cy="815361"/>
            </a:xfrm>
            <a:prstGeom prst="rect">
              <a:avLst/>
            </a:prstGeom>
          </p:spPr>
          <p:txBody>
            <a:bodyPr anchor="t" rtlCol="false" tIns="0" lIns="0" bIns="0" rIns="0">
              <a:spAutoFit/>
            </a:bodyPr>
            <a:lstStyle/>
            <a:p>
              <a:pPr algn="l">
                <a:lnSpc>
                  <a:spcPts val="2403"/>
                </a:lnSpc>
              </a:pPr>
              <a:r>
                <a:rPr lang="en-US" sz="1835" spc="36">
                  <a:solidFill>
                    <a:srgbClr val="FFFFFF"/>
                  </a:solidFill>
                  <a:latin typeface="Codec Pro"/>
                  <a:ea typeface="Codec Pro"/>
                  <a:cs typeface="Codec Pro"/>
                  <a:sym typeface="Codec Pro"/>
                </a:rPr>
                <a:t>Identificamos los puntos clave sobre los cuales podremos ejecutar acciones de mejora.</a:t>
              </a:r>
            </a:p>
          </p:txBody>
        </p:sp>
      </p:grpSp>
      <p:sp>
        <p:nvSpPr>
          <p:cNvPr name="AutoShape 9" id="9"/>
          <p:cNvSpPr/>
          <p:nvPr/>
        </p:nvSpPr>
        <p:spPr>
          <a:xfrm rot="7192">
            <a:off x="6906244" y="5150644"/>
            <a:ext cx="11381776" cy="9525"/>
          </a:xfrm>
          <a:prstGeom prst="line">
            <a:avLst/>
          </a:prstGeom>
          <a:ln cap="flat" w="9525">
            <a:solidFill>
              <a:srgbClr val="A6A6A6"/>
            </a:solidFill>
            <a:prstDash val="solid"/>
            <a:headEnd type="none" len="sm" w="sm"/>
            <a:tailEnd type="none" len="sm" w="sm"/>
          </a:ln>
        </p:spPr>
      </p:sp>
      <p:sp>
        <p:nvSpPr>
          <p:cNvPr name="AutoShape 10" id="10"/>
          <p:cNvSpPr/>
          <p:nvPr/>
        </p:nvSpPr>
        <p:spPr>
          <a:xfrm rot="-5400000">
            <a:off x="6901490" y="5686117"/>
            <a:ext cx="11381759" cy="0"/>
          </a:xfrm>
          <a:prstGeom prst="line">
            <a:avLst/>
          </a:prstGeom>
          <a:ln cap="flat" w="9525">
            <a:solidFill>
              <a:srgbClr val="A6A6A6"/>
            </a:solidFill>
            <a:prstDash val="solid"/>
            <a:headEnd type="none" len="sm" w="sm"/>
            <a:tailEnd type="none" len="sm" w="sm"/>
          </a:ln>
        </p:spPr>
      </p:sp>
      <p:grpSp>
        <p:nvGrpSpPr>
          <p:cNvPr name="Group 11" id="11"/>
          <p:cNvGrpSpPr/>
          <p:nvPr/>
        </p:nvGrpSpPr>
        <p:grpSpPr>
          <a:xfrm rot="0">
            <a:off x="7434757" y="1028700"/>
            <a:ext cx="4624350" cy="2956979"/>
            <a:chOff x="0" y="0"/>
            <a:chExt cx="6165800" cy="3942639"/>
          </a:xfrm>
        </p:grpSpPr>
        <p:sp>
          <p:nvSpPr>
            <p:cNvPr name="TextBox 12" id="12"/>
            <p:cNvSpPr txBox="true"/>
            <p:nvPr/>
          </p:nvSpPr>
          <p:spPr>
            <a:xfrm rot="0">
              <a:off x="0" y="19050"/>
              <a:ext cx="6165800" cy="988434"/>
            </a:xfrm>
            <a:prstGeom prst="rect">
              <a:avLst/>
            </a:prstGeom>
          </p:spPr>
          <p:txBody>
            <a:bodyPr anchor="t" rtlCol="false" tIns="0" lIns="0" bIns="0" rIns="0">
              <a:spAutoFit/>
            </a:bodyPr>
            <a:lstStyle/>
            <a:p>
              <a:pPr algn="l">
                <a:lnSpc>
                  <a:spcPts val="5750"/>
                </a:lnSpc>
              </a:pPr>
              <a:r>
                <a:rPr lang="en-US" sz="5000">
                  <a:solidFill>
                    <a:srgbClr val="000000"/>
                  </a:solidFill>
                  <a:latin typeface="Oswald"/>
                  <a:ea typeface="Oswald"/>
                  <a:cs typeface="Oswald"/>
                  <a:sym typeface="Oswald"/>
                </a:rPr>
                <a:t>Punto de mejora</a:t>
              </a:r>
            </a:p>
          </p:txBody>
        </p:sp>
        <p:sp>
          <p:nvSpPr>
            <p:cNvPr name="TextBox 13" id="13"/>
            <p:cNvSpPr txBox="true"/>
            <p:nvPr/>
          </p:nvSpPr>
          <p:spPr>
            <a:xfrm rot="0">
              <a:off x="0" y="1145047"/>
              <a:ext cx="5566058" cy="415465"/>
            </a:xfrm>
            <a:prstGeom prst="rect">
              <a:avLst/>
            </a:prstGeom>
          </p:spPr>
          <p:txBody>
            <a:bodyPr anchor="t" rtlCol="false" tIns="0" lIns="0" bIns="0" rIns="0">
              <a:spAutoFit/>
            </a:bodyPr>
            <a:lstStyle/>
            <a:p>
              <a:pPr algn="l">
                <a:lnSpc>
                  <a:spcPts val="2625"/>
                </a:lnSpc>
              </a:pPr>
              <a:r>
                <a:rPr lang="en-US" sz="1810" spc="170">
                  <a:solidFill>
                    <a:srgbClr val="000000"/>
                  </a:solidFill>
                  <a:latin typeface="Glacial Indifference"/>
                  <a:ea typeface="Glacial Indifference"/>
                  <a:cs typeface="Glacial Indifference"/>
                  <a:sym typeface="Glacial Indifference"/>
                </a:rPr>
                <a:t>PUNTOS CLAVE DE MEJORA</a:t>
              </a:r>
            </a:p>
          </p:txBody>
        </p:sp>
        <p:sp>
          <p:nvSpPr>
            <p:cNvPr name="TextBox 14" id="14"/>
            <p:cNvSpPr txBox="true"/>
            <p:nvPr/>
          </p:nvSpPr>
          <p:spPr>
            <a:xfrm rot="0">
              <a:off x="0" y="1699498"/>
              <a:ext cx="6165800" cy="2243141"/>
            </a:xfrm>
            <a:prstGeom prst="rect">
              <a:avLst/>
            </a:prstGeom>
          </p:spPr>
          <p:txBody>
            <a:bodyPr anchor="t" rtlCol="false" tIns="0" lIns="0" bIns="0" rIns="0">
              <a:spAutoFit/>
            </a:bodyPr>
            <a:lstStyle/>
            <a:p>
              <a:pPr algn="l">
                <a:lnSpc>
                  <a:spcPts val="1897"/>
                </a:lnSpc>
              </a:pPr>
              <a:r>
                <a:rPr lang="en-US" sz="1448" spc="28">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grpSp>
        <p:nvGrpSpPr>
          <p:cNvPr name="Group 15" id="15"/>
          <p:cNvGrpSpPr/>
          <p:nvPr/>
        </p:nvGrpSpPr>
        <p:grpSpPr>
          <a:xfrm rot="0">
            <a:off x="13121007" y="1028700"/>
            <a:ext cx="4624350" cy="2956979"/>
            <a:chOff x="0" y="0"/>
            <a:chExt cx="6165800" cy="3942639"/>
          </a:xfrm>
        </p:grpSpPr>
        <p:sp>
          <p:nvSpPr>
            <p:cNvPr name="TextBox 16" id="16"/>
            <p:cNvSpPr txBox="true"/>
            <p:nvPr/>
          </p:nvSpPr>
          <p:spPr>
            <a:xfrm rot="0">
              <a:off x="0" y="19050"/>
              <a:ext cx="6165800" cy="988434"/>
            </a:xfrm>
            <a:prstGeom prst="rect">
              <a:avLst/>
            </a:prstGeom>
          </p:spPr>
          <p:txBody>
            <a:bodyPr anchor="t" rtlCol="false" tIns="0" lIns="0" bIns="0" rIns="0">
              <a:spAutoFit/>
            </a:bodyPr>
            <a:lstStyle/>
            <a:p>
              <a:pPr algn="l">
                <a:lnSpc>
                  <a:spcPts val="5750"/>
                </a:lnSpc>
              </a:pPr>
              <a:r>
                <a:rPr lang="en-US" sz="5000">
                  <a:solidFill>
                    <a:srgbClr val="000000"/>
                  </a:solidFill>
                  <a:latin typeface="Oswald"/>
                  <a:ea typeface="Oswald"/>
                  <a:cs typeface="Oswald"/>
                  <a:sym typeface="Oswald"/>
                </a:rPr>
                <a:t>Punto de mejora</a:t>
              </a:r>
            </a:p>
          </p:txBody>
        </p:sp>
        <p:sp>
          <p:nvSpPr>
            <p:cNvPr name="TextBox 17" id="17"/>
            <p:cNvSpPr txBox="true"/>
            <p:nvPr/>
          </p:nvSpPr>
          <p:spPr>
            <a:xfrm rot="0">
              <a:off x="0" y="1145047"/>
              <a:ext cx="5566058" cy="415465"/>
            </a:xfrm>
            <a:prstGeom prst="rect">
              <a:avLst/>
            </a:prstGeom>
          </p:spPr>
          <p:txBody>
            <a:bodyPr anchor="t" rtlCol="false" tIns="0" lIns="0" bIns="0" rIns="0">
              <a:spAutoFit/>
            </a:bodyPr>
            <a:lstStyle/>
            <a:p>
              <a:pPr algn="l">
                <a:lnSpc>
                  <a:spcPts val="2625"/>
                </a:lnSpc>
              </a:pPr>
              <a:r>
                <a:rPr lang="en-US" sz="1810" spc="170">
                  <a:solidFill>
                    <a:srgbClr val="000000"/>
                  </a:solidFill>
                  <a:latin typeface="Glacial Indifference"/>
                  <a:ea typeface="Glacial Indifference"/>
                  <a:cs typeface="Glacial Indifference"/>
                  <a:sym typeface="Glacial Indifference"/>
                </a:rPr>
                <a:t>PUNTOS CLAVE DE MEJORA</a:t>
              </a:r>
            </a:p>
          </p:txBody>
        </p:sp>
        <p:sp>
          <p:nvSpPr>
            <p:cNvPr name="TextBox 18" id="18"/>
            <p:cNvSpPr txBox="true"/>
            <p:nvPr/>
          </p:nvSpPr>
          <p:spPr>
            <a:xfrm rot="0">
              <a:off x="0" y="1699498"/>
              <a:ext cx="6165800" cy="2243141"/>
            </a:xfrm>
            <a:prstGeom prst="rect">
              <a:avLst/>
            </a:prstGeom>
          </p:spPr>
          <p:txBody>
            <a:bodyPr anchor="t" rtlCol="false" tIns="0" lIns="0" bIns="0" rIns="0">
              <a:spAutoFit/>
            </a:bodyPr>
            <a:lstStyle/>
            <a:p>
              <a:pPr algn="l">
                <a:lnSpc>
                  <a:spcPts val="1897"/>
                </a:lnSpc>
              </a:pPr>
              <a:r>
                <a:rPr lang="en-US" sz="1448" spc="28">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grpSp>
        <p:nvGrpSpPr>
          <p:cNvPr name="Group 19" id="19"/>
          <p:cNvGrpSpPr/>
          <p:nvPr/>
        </p:nvGrpSpPr>
        <p:grpSpPr>
          <a:xfrm rot="0">
            <a:off x="13121007" y="5690880"/>
            <a:ext cx="4624350" cy="2956979"/>
            <a:chOff x="0" y="0"/>
            <a:chExt cx="6165800" cy="3942639"/>
          </a:xfrm>
        </p:grpSpPr>
        <p:sp>
          <p:nvSpPr>
            <p:cNvPr name="TextBox 20" id="20"/>
            <p:cNvSpPr txBox="true"/>
            <p:nvPr/>
          </p:nvSpPr>
          <p:spPr>
            <a:xfrm rot="0">
              <a:off x="0" y="19050"/>
              <a:ext cx="6165800" cy="988434"/>
            </a:xfrm>
            <a:prstGeom prst="rect">
              <a:avLst/>
            </a:prstGeom>
          </p:spPr>
          <p:txBody>
            <a:bodyPr anchor="t" rtlCol="false" tIns="0" lIns="0" bIns="0" rIns="0">
              <a:spAutoFit/>
            </a:bodyPr>
            <a:lstStyle/>
            <a:p>
              <a:pPr algn="l">
                <a:lnSpc>
                  <a:spcPts val="5750"/>
                </a:lnSpc>
              </a:pPr>
              <a:r>
                <a:rPr lang="en-US" sz="5000">
                  <a:solidFill>
                    <a:srgbClr val="000000"/>
                  </a:solidFill>
                  <a:latin typeface="Oswald"/>
                  <a:ea typeface="Oswald"/>
                  <a:cs typeface="Oswald"/>
                  <a:sym typeface="Oswald"/>
                </a:rPr>
                <a:t>Punto de mejora</a:t>
              </a:r>
            </a:p>
          </p:txBody>
        </p:sp>
        <p:sp>
          <p:nvSpPr>
            <p:cNvPr name="TextBox 21" id="21"/>
            <p:cNvSpPr txBox="true"/>
            <p:nvPr/>
          </p:nvSpPr>
          <p:spPr>
            <a:xfrm rot="0">
              <a:off x="0" y="1145047"/>
              <a:ext cx="5566058" cy="415465"/>
            </a:xfrm>
            <a:prstGeom prst="rect">
              <a:avLst/>
            </a:prstGeom>
          </p:spPr>
          <p:txBody>
            <a:bodyPr anchor="t" rtlCol="false" tIns="0" lIns="0" bIns="0" rIns="0">
              <a:spAutoFit/>
            </a:bodyPr>
            <a:lstStyle/>
            <a:p>
              <a:pPr algn="l">
                <a:lnSpc>
                  <a:spcPts val="2625"/>
                </a:lnSpc>
              </a:pPr>
              <a:r>
                <a:rPr lang="en-US" sz="1810" spc="170">
                  <a:solidFill>
                    <a:srgbClr val="000000"/>
                  </a:solidFill>
                  <a:latin typeface="Glacial Indifference"/>
                  <a:ea typeface="Glacial Indifference"/>
                  <a:cs typeface="Glacial Indifference"/>
                  <a:sym typeface="Glacial Indifference"/>
                </a:rPr>
                <a:t>PUNTOS CLAVE DE MEJORA</a:t>
              </a:r>
            </a:p>
          </p:txBody>
        </p:sp>
        <p:sp>
          <p:nvSpPr>
            <p:cNvPr name="TextBox 22" id="22"/>
            <p:cNvSpPr txBox="true"/>
            <p:nvPr/>
          </p:nvSpPr>
          <p:spPr>
            <a:xfrm rot="0">
              <a:off x="0" y="1699498"/>
              <a:ext cx="6165800" cy="2243141"/>
            </a:xfrm>
            <a:prstGeom prst="rect">
              <a:avLst/>
            </a:prstGeom>
          </p:spPr>
          <p:txBody>
            <a:bodyPr anchor="t" rtlCol="false" tIns="0" lIns="0" bIns="0" rIns="0">
              <a:spAutoFit/>
            </a:bodyPr>
            <a:lstStyle/>
            <a:p>
              <a:pPr algn="l">
                <a:lnSpc>
                  <a:spcPts val="1897"/>
                </a:lnSpc>
              </a:pPr>
              <a:r>
                <a:rPr lang="en-US" sz="1448" spc="28">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grpSp>
        <p:nvGrpSpPr>
          <p:cNvPr name="Group 23" id="23"/>
          <p:cNvGrpSpPr/>
          <p:nvPr/>
        </p:nvGrpSpPr>
        <p:grpSpPr>
          <a:xfrm rot="0">
            <a:off x="7434757" y="5690880"/>
            <a:ext cx="4624350" cy="2956979"/>
            <a:chOff x="0" y="0"/>
            <a:chExt cx="6165800" cy="3942639"/>
          </a:xfrm>
        </p:grpSpPr>
        <p:sp>
          <p:nvSpPr>
            <p:cNvPr name="TextBox 24" id="24"/>
            <p:cNvSpPr txBox="true"/>
            <p:nvPr/>
          </p:nvSpPr>
          <p:spPr>
            <a:xfrm rot="0">
              <a:off x="0" y="19050"/>
              <a:ext cx="6165800" cy="988434"/>
            </a:xfrm>
            <a:prstGeom prst="rect">
              <a:avLst/>
            </a:prstGeom>
          </p:spPr>
          <p:txBody>
            <a:bodyPr anchor="t" rtlCol="false" tIns="0" lIns="0" bIns="0" rIns="0">
              <a:spAutoFit/>
            </a:bodyPr>
            <a:lstStyle/>
            <a:p>
              <a:pPr algn="l">
                <a:lnSpc>
                  <a:spcPts val="5750"/>
                </a:lnSpc>
              </a:pPr>
              <a:r>
                <a:rPr lang="en-US" sz="5000">
                  <a:solidFill>
                    <a:srgbClr val="000000"/>
                  </a:solidFill>
                  <a:latin typeface="Oswald"/>
                  <a:ea typeface="Oswald"/>
                  <a:cs typeface="Oswald"/>
                  <a:sym typeface="Oswald"/>
                </a:rPr>
                <a:t>Punto de mejora</a:t>
              </a:r>
            </a:p>
          </p:txBody>
        </p:sp>
        <p:sp>
          <p:nvSpPr>
            <p:cNvPr name="TextBox 25" id="25"/>
            <p:cNvSpPr txBox="true"/>
            <p:nvPr/>
          </p:nvSpPr>
          <p:spPr>
            <a:xfrm rot="0">
              <a:off x="0" y="1145047"/>
              <a:ext cx="5566058" cy="415465"/>
            </a:xfrm>
            <a:prstGeom prst="rect">
              <a:avLst/>
            </a:prstGeom>
          </p:spPr>
          <p:txBody>
            <a:bodyPr anchor="t" rtlCol="false" tIns="0" lIns="0" bIns="0" rIns="0">
              <a:spAutoFit/>
            </a:bodyPr>
            <a:lstStyle/>
            <a:p>
              <a:pPr algn="l">
                <a:lnSpc>
                  <a:spcPts val="2625"/>
                </a:lnSpc>
              </a:pPr>
              <a:r>
                <a:rPr lang="en-US" sz="1810" spc="170">
                  <a:solidFill>
                    <a:srgbClr val="000000"/>
                  </a:solidFill>
                  <a:latin typeface="Glacial Indifference"/>
                  <a:ea typeface="Glacial Indifference"/>
                  <a:cs typeface="Glacial Indifference"/>
                  <a:sym typeface="Glacial Indifference"/>
                </a:rPr>
                <a:t>PUNTOS CLAVE DE MEJORA</a:t>
              </a:r>
            </a:p>
          </p:txBody>
        </p:sp>
        <p:sp>
          <p:nvSpPr>
            <p:cNvPr name="TextBox 26" id="26"/>
            <p:cNvSpPr txBox="true"/>
            <p:nvPr/>
          </p:nvSpPr>
          <p:spPr>
            <a:xfrm rot="0">
              <a:off x="0" y="1699498"/>
              <a:ext cx="6165800" cy="2243141"/>
            </a:xfrm>
            <a:prstGeom prst="rect">
              <a:avLst/>
            </a:prstGeom>
          </p:spPr>
          <p:txBody>
            <a:bodyPr anchor="t" rtlCol="false" tIns="0" lIns="0" bIns="0" rIns="0">
              <a:spAutoFit/>
            </a:bodyPr>
            <a:lstStyle/>
            <a:p>
              <a:pPr algn="l">
                <a:lnSpc>
                  <a:spcPts val="1897"/>
                </a:lnSpc>
              </a:pPr>
              <a:r>
                <a:rPr lang="en-US" sz="1448" spc="28">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TextBox 4" id="4"/>
          <p:cNvSpPr txBox="true"/>
          <p:nvPr/>
        </p:nvSpPr>
        <p:spPr>
          <a:xfrm rot="0">
            <a:off x="2654663" y="4223822"/>
            <a:ext cx="12318716" cy="1174676"/>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DESCUBRIMIENTOS</a:t>
            </a:r>
          </a:p>
        </p:txBody>
      </p:sp>
      <p:sp>
        <p:nvSpPr>
          <p:cNvPr name="TextBox 5" id="5"/>
          <p:cNvSpPr txBox="true"/>
          <p:nvPr/>
        </p:nvSpPr>
        <p:spPr>
          <a:xfrm rot="0">
            <a:off x="2654663" y="5430501"/>
            <a:ext cx="8322568" cy="670815"/>
          </a:xfrm>
          <a:prstGeom prst="rect">
            <a:avLst/>
          </a:prstGeom>
        </p:spPr>
        <p:txBody>
          <a:bodyPr anchor="t" rtlCol="false" tIns="0" lIns="0" bIns="0" rIns="0">
            <a:spAutoFit/>
          </a:bodyPr>
          <a:lstStyle/>
          <a:p>
            <a:pPr algn="l">
              <a:lnSpc>
                <a:spcPts val="4977"/>
              </a:lnSpc>
            </a:pPr>
            <a:r>
              <a:rPr lang="en-US" sz="3799" spc="75">
                <a:solidFill>
                  <a:srgbClr val="FFFFFF"/>
                </a:solidFill>
                <a:latin typeface="Codec Pro"/>
                <a:ea typeface="Codec Pro"/>
                <a:cs typeface="Codec Pro"/>
                <a:sym typeface="Codec Pro"/>
              </a:rPr>
              <a:t>¿QUÉ PODEMOS INFERIR?</a:t>
            </a:r>
          </a:p>
        </p:txBody>
      </p:sp>
      <p:sp>
        <p:nvSpPr>
          <p:cNvPr name="TextBox 6" id="6"/>
          <p:cNvSpPr txBox="true"/>
          <p:nvPr/>
        </p:nvSpPr>
        <p:spPr>
          <a:xfrm rot="0">
            <a:off x="442957" y="3854852"/>
            <a:ext cx="1728747" cy="2388683"/>
          </a:xfrm>
          <a:prstGeom prst="rect">
            <a:avLst/>
          </a:prstGeom>
        </p:spPr>
        <p:txBody>
          <a:bodyPr anchor="t" rtlCol="false" tIns="0" lIns="0" bIns="0" rIns="0">
            <a:spAutoFit/>
          </a:bodyPr>
          <a:lstStyle/>
          <a:p>
            <a:pPr algn="ctr">
              <a:lnSpc>
                <a:spcPts val="18616"/>
              </a:lnSpc>
            </a:pPr>
            <a:r>
              <a:rPr lang="en-US" sz="16188" spc="696">
                <a:solidFill>
                  <a:srgbClr val="FFFFFF"/>
                </a:solidFill>
                <a:latin typeface="Oswald"/>
                <a:ea typeface="Oswald"/>
                <a:cs typeface="Oswald"/>
                <a:sym typeface="Oswald"/>
              </a:rPr>
              <a:t>3</a:t>
            </a:r>
          </a:p>
        </p:txBody>
      </p:sp>
      <p:sp>
        <p:nvSpPr>
          <p:cNvPr name="AutoShape 7" id="7"/>
          <p:cNvSpPr/>
          <p:nvPr/>
        </p:nvSpPr>
        <p:spPr>
          <a:xfrm rot="0">
            <a:off x="1952130" y="5124450"/>
            <a:ext cx="439149"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3279284"/>
            <a:chOff x="0" y="0"/>
            <a:chExt cx="4816593" cy="863680"/>
          </a:xfrm>
        </p:grpSpPr>
        <p:sp>
          <p:nvSpPr>
            <p:cNvPr name="Freeform 3" id="3"/>
            <p:cNvSpPr/>
            <p:nvPr/>
          </p:nvSpPr>
          <p:spPr>
            <a:xfrm flipH="false" flipV="false" rot="0">
              <a:off x="0" y="0"/>
              <a:ext cx="4816592" cy="863680"/>
            </a:xfrm>
            <a:custGeom>
              <a:avLst/>
              <a:gdLst/>
              <a:ahLst/>
              <a:cxnLst/>
              <a:rect r="r" b="b" t="t" l="l"/>
              <a:pathLst>
                <a:path h="863680" w="4816592">
                  <a:moveTo>
                    <a:pt x="0" y="0"/>
                  </a:moveTo>
                  <a:lnTo>
                    <a:pt x="4816592" y="0"/>
                  </a:lnTo>
                  <a:lnTo>
                    <a:pt x="4816592" y="863680"/>
                  </a:lnTo>
                  <a:lnTo>
                    <a:pt x="0" y="863680"/>
                  </a:lnTo>
                  <a:close/>
                </a:path>
              </a:pathLst>
            </a:custGeom>
            <a:solidFill>
              <a:srgbClr val="132232"/>
            </a:solidFill>
          </p:spPr>
        </p:sp>
        <p:sp>
          <p:nvSpPr>
            <p:cNvPr name="TextBox 4" id="4"/>
            <p:cNvSpPr txBox="true"/>
            <p:nvPr/>
          </p:nvSpPr>
          <p:spPr>
            <a:xfrm>
              <a:off x="0" y="-66675"/>
              <a:ext cx="4816593" cy="930355"/>
            </a:xfrm>
            <a:prstGeom prst="rect">
              <a:avLst/>
            </a:prstGeom>
          </p:spPr>
          <p:txBody>
            <a:bodyPr anchor="ctr" rtlCol="false" tIns="50800" lIns="50800" bIns="50800" rIns="50800"/>
            <a:lstStyle/>
            <a:p>
              <a:pPr algn="ctr">
                <a:lnSpc>
                  <a:spcPts val="3624"/>
                </a:lnSpc>
              </a:pPr>
            </a:p>
          </p:txBody>
        </p:sp>
      </p:grpSp>
      <p:sp>
        <p:nvSpPr>
          <p:cNvPr name="AutoShape 5" id="5"/>
          <p:cNvSpPr/>
          <p:nvPr/>
        </p:nvSpPr>
        <p:spPr>
          <a:xfrm rot="0">
            <a:off x="0" y="4462594"/>
            <a:ext cx="19355066" cy="0"/>
          </a:xfrm>
          <a:prstGeom prst="line">
            <a:avLst/>
          </a:prstGeom>
          <a:ln cap="flat" w="9525">
            <a:solidFill>
              <a:srgbClr val="D9D9D9"/>
            </a:solidFill>
            <a:prstDash val="solid"/>
            <a:headEnd type="none" len="sm" w="sm"/>
            <a:tailEnd type="none" len="sm" w="sm"/>
          </a:ln>
        </p:spPr>
      </p:sp>
      <p:sp>
        <p:nvSpPr>
          <p:cNvPr name="TextBox 6" id="6"/>
          <p:cNvSpPr txBox="true"/>
          <p:nvPr/>
        </p:nvSpPr>
        <p:spPr>
          <a:xfrm rot="0">
            <a:off x="571043" y="5906148"/>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7" id="7"/>
          <p:cNvSpPr txBox="true"/>
          <p:nvPr/>
        </p:nvSpPr>
        <p:spPr>
          <a:xfrm rot="0">
            <a:off x="1028700" y="1066800"/>
            <a:ext cx="13103867" cy="1174676"/>
          </a:xfrm>
          <a:prstGeom prst="rect">
            <a:avLst/>
          </a:prstGeom>
        </p:spPr>
        <p:txBody>
          <a:bodyPr anchor="t" rtlCol="false" tIns="0" lIns="0" bIns="0" rIns="0">
            <a:spAutoFit/>
          </a:bodyPr>
          <a:lstStyle/>
          <a:p>
            <a:pPr algn="l">
              <a:lnSpc>
                <a:spcPts val="9200"/>
              </a:lnSpc>
            </a:pPr>
            <a:r>
              <a:rPr lang="en-US" sz="8000">
                <a:solidFill>
                  <a:srgbClr val="FFFFFF"/>
                </a:solidFill>
                <a:latin typeface="Oswald"/>
                <a:ea typeface="Oswald"/>
                <a:cs typeface="Oswald"/>
                <a:sym typeface="Oswald"/>
              </a:rPr>
              <a:t>DESCUBRIMIENTOS</a:t>
            </a:r>
          </a:p>
        </p:txBody>
      </p:sp>
      <p:sp>
        <p:nvSpPr>
          <p:cNvPr name="TextBox 8" id="8"/>
          <p:cNvSpPr txBox="true"/>
          <p:nvPr/>
        </p:nvSpPr>
        <p:spPr>
          <a:xfrm rot="0">
            <a:off x="1028700" y="2287491"/>
            <a:ext cx="7929515"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¿QUÉ PODEMOS INFERIR?</a:t>
            </a:r>
          </a:p>
        </p:txBody>
      </p:sp>
      <p:sp>
        <p:nvSpPr>
          <p:cNvPr name="TextBox 9" id="9"/>
          <p:cNvSpPr txBox="true"/>
          <p:nvPr/>
        </p:nvSpPr>
        <p:spPr>
          <a:xfrm rot="0">
            <a:off x="571043" y="6387459"/>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10" id="10"/>
          <p:cNvSpPr txBox="true"/>
          <p:nvPr/>
        </p:nvSpPr>
        <p:spPr>
          <a:xfrm rot="0">
            <a:off x="571043" y="5296061"/>
            <a:ext cx="3492232" cy="387789"/>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CONCLUSIÓN NO. 1</a:t>
            </a:r>
          </a:p>
        </p:txBody>
      </p:sp>
      <p:sp>
        <p:nvSpPr>
          <p:cNvPr name="AutoShape 11" id="11"/>
          <p:cNvSpPr/>
          <p:nvPr/>
        </p:nvSpPr>
        <p:spPr>
          <a:xfrm rot="-5397184">
            <a:off x="1664568" y="7365267"/>
            <a:ext cx="5814864" cy="0"/>
          </a:xfrm>
          <a:prstGeom prst="line">
            <a:avLst/>
          </a:prstGeom>
          <a:ln cap="flat" w="9525">
            <a:solidFill>
              <a:srgbClr val="A6A6A6"/>
            </a:solidFill>
            <a:prstDash val="solid"/>
            <a:headEnd type="none" len="sm" w="sm"/>
            <a:tailEnd type="none" len="sm" w="sm"/>
          </a:ln>
        </p:spPr>
      </p:sp>
      <p:sp>
        <p:nvSpPr>
          <p:cNvPr name="AutoShape 12" id="12"/>
          <p:cNvSpPr/>
          <p:nvPr/>
        </p:nvSpPr>
        <p:spPr>
          <a:xfrm rot="-5397184">
            <a:off x="6234187" y="7365267"/>
            <a:ext cx="5814864" cy="0"/>
          </a:xfrm>
          <a:prstGeom prst="line">
            <a:avLst/>
          </a:prstGeom>
          <a:ln cap="flat" w="9525">
            <a:solidFill>
              <a:srgbClr val="A6A6A6"/>
            </a:solidFill>
            <a:prstDash val="solid"/>
            <a:headEnd type="none" len="sm" w="sm"/>
            <a:tailEnd type="none" len="sm" w="sm"/>
          </a:ln>
        </p:spPr>
      </p:sp>
      <p:sp>
        <p:nvSpPr>
          <p:cNvPr name="AutoShape 13" id="13"/>
          <p:cNvSpPr/>
          <p:nvPr/>
        </p:nvSpPr>
        <p:spPr>
          <a:xfrm rot="-5397184">
            <a:off x="10803805" y="7365267"/>
            <a:ext cx="5814864" cy="0"/>
          </a:xfrm>
          <a:prstGeom prst="line">
            <a:avLst/>
          </a:prstGeom>
          <a:ln cap="flat" w="9525">
            <a:solidFill>
              <a:srgbClr val="A6A6A6"/>
            </a:solidFill>
            <a:prstDash val="solid"/>
            <a:headEnd type="none" len="sm" w="sm"/>
            <a:tailEnd type="none" len="sm" w="sm"/>
          </a:ln>
        </p:spPr>
      </p:sp>
      <p:sp>
        <p:nvSpPr>
          <p:cNvPr name="TextBox 14" id="14"/>
          <p:cNvSpPr txBox="true"/>
          <p:nvPr/>
        </p:nvSpPr>
        <p:spPr>
          <a:xfrm rot="0">
            <a:off x="5110693" y="5906148"/>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15" id="15"/>
          <p:cNvSpPr txBox="true"/>
          <p:nvPr/>
        </p:nvSpPr>
        <p:spPr>
          <a:xfrm rot="0">
            <a:off x="5110693" y="6387459"/>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16" id="16"/>
          <p:cNvSpPr txBox="true"/>
          <p:nvPr/>
        </p:nvSpPr>
        <p:spPr>
          <a:xfrm rot="0">
            <a:off x="5110693" y="5296061"/>
            <a:ext cx="3492232" cy="387789"/>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CONCLUSIÓN NO. 2</a:t>
            </a:r>
          </a:p>
        </p:txBody>
      </p:sp>
      <p:sp>
        <p:nvSpPr>
          <p:cNvPr name="TextBox 17" id="17"/>
          <p:cNvSpPr txBox="true"/>
          <p:nvPr/>
        </p:nvSpPr>
        <p:spPr>
          <a:xfrm rot="0">
            <a:off x="9653587" y="5906148"/>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18" id="18"/>
          <p:cNvSpPr txBox="true"/>
          <p:nvPr/>
        </p:nvSpPr>
        <p:spPr>
          <a:xfrm rot="0">
            <a:off x="9653587" y="6387459"/>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19" id="19"/>
          <p:cNvSpPr txBox="true"/>
          <p:nvPr/>
        </p:nvSpPr>
        <p:spPr>
          <a:xfrm rot="0">
            <a:off x="9653587" y="5296061"/>
            <a:ext cx="3492232" cy="387789"/>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CONCLUSIÓN NO. 3</a:t>
            </a:r>
          </a:p>
        </p:txBody>
      </p:sp>
      <p:sp>
        <p:nvSpPr>
          <p:cNvPr name="TextBox 20" id="20"/>
          <p:cNvSpPr txBox="true"/>
          <p:nvPr/>
        </p:nvSpPr>
        <p:spPr>
          <a:xfrm rot="0">
            <a:off x="14132567" y="5906148"/>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21" id="21"/>
          <p:cNvSpPr txBox="true"/>
          <p:nvPr/>
        </p:nvSpPr>
        <p:spPr>
          <a:xfrm rot="0">
            <a:off x="14132567" y="6387459"/>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22" id="22"/>
          <p:cNvSpPr txBox="true"/>
          <p:nvPr/>
        </p:nvSpPr>
        <p:spPr>
          <a:xfrm rot="0">
            <a:off x="14132567" y="5296061"/>
            <a:ext cx="3492232" cy="387789"/>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CONCLUSIÓN NO. 4</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TextBox 4" id="4"/>
          <p:cNvSpPr txBox="true"/>
          <p:nvPr/>
        </p:nvSpPr>
        <p:spPr>
          <a:xfrm rot="0">
            <a:off x="2625417" y="4223822"/>
            <a:ext cx="12318716" cy="1174676"/>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META FINAL</a:t>
            </a:r>
          </a:p>
        </p:txBody>
      </p:sp>
      <p:sp>
        <p:nvSpPr>
          <p:cNvPr name="TextBox 5" id="5"/>
          <p:cNvSpPr txBox="true"/>
          <p:nvPr/>
        </p:nvSpPr>
        <p:spPr>
          <a:xfrm rot="0">
            <a:off x="2625417" y="5430501"/>
            <a:ext cx="11123733" cy="670815"/>
          </a:xfrm>
          <a:prstGeom prst="rect">
            <a:avLst/>
          </a:prstGeom>
        </p:spPr>
        <p:txBody>
          <a:bodyPr anchor="t" rtlCol="false" tIns="0" lIns="0" bIns="0" rIns="0">
            <a:spAutoFit/>
          </a:bodyPr>
          <a:lstStyle/>
          <a:p>
            <a:pPr algn="l">
              <a:lnSpc>
                <a:spcPts val="4977"/>
              </a:lnSpc>
            </a:pPr>
            <a:r>
              <a:rPr lang="en-US" sz="3799" spc="75">
                <a:solidFill>
                  <a:srgbClr val="FFFFFF"/>
                </a:solidFill>
                <a:latin typeface="Codec Pro"/>
                <a:ea typeface="Codec Pro"/>
                <a:cs typeface="Codec Pro"/>
                <a:sym typeface="Codec Pro"/>
              </a:rPr>
              <a:t>¿A DÓNDE QUEREMOS LLEGAR?</a:t>
            </a:r>
          </a:p>
        </p:txBody>
      </p:sp>
      <p:sp>
        <p:nvSpPr>
          <p:cNvPr name="TextBox 6" id="6"/>
          <p:cNvSpPr txBox="true"/>
          <p:nvPr/>
        </p:nvSpPr>
        <p:spPr>
          <a:xfrm rot="0">
            <a:off x="442957" y="3854852"/>
            <a:ext cx="1728747" cy="2388683"/>
          </a:xfrm>
          <a:prstGeom prst="rect">
            <a:avLst/>
          </a:prstGeom>
        </p:spPr>
        <p:txBody>
          <a:bodyPr anchor="t" rtlCol="false" tIns="0" lIns="0" bIns="0" rIns="0">
            <a:spAutoFit/>
          </a:bodyPr>
          <a:lstStyle/>
          <a:p>
            <a:pPr algn="ctr">
              <a:lnSpc>
                <a:spcPts val="18616"/>
              </a:lnSpc>
            </a:pPr>
            <a:r>
              <a:rPr lang="en-US" sz="16188" spc="696">
                <a:solidFill>
                  <a:srgbClr val="FFFFFF"/>
                </a:solidFill>
                <a:latin typeface="Oswald"/>
                <a:ea typeface="Oswald"/>
                <a:cs typeface="Oswald"/>
                <a:sym typeface="Oswald"/>
              </a:rPr>
              <a:t>4</a:t>
            </a:r>
          </a:p>
        </p:txBody>
      </p:sp>
      <p:sp>
        <p:nvSpPr>
          <p:cNvPr name="AutoShape 7" id="7"/>
          <p:cNvSpPr/>
          <p:nvPr/>
        </p:nvSpPr>
        <p:spPr>
          <a:xfrm rot="0">
            <a:off x="1952130" y="5124450"/>
            <a:ext cx="439149"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AutoShape 2" id="2"/>
          <p:cNvSpPr/>
          <p:nvPr/>
        </p:nvSpPr>
        <p:spPr>
          <a:xfrm rot="19607">
            <a:off x="-94" y="3323447"/>
            <a:ext cx="18288287" cy="0"/>
          </a:xfrm>
          <a:prstGeom prst="line">
            <a:avLst/>
          </a:prstGeom>
          <a:ln cap="flat" w="9525">
            <a:solidFill>
              <a:srgbClr val="A6A6A6"/>
            </a:solidFill>
            <a:prstDash val="solid"/>
            <a:headEnd type="none" len="sm" w="sm"/>
            <a:tailEnd type="none" len="sm" w="sm"/>
          </a:ln>
        </p:spPr>
      </p:sp>
      <p:sp>
        <p:nvSpPr>
          <p:cNvPr name="AutoShape 3" id="3"/>
          <p:cNvSpPr/>
          <p:nvPr/>
        </p:nvSpPr>
        <p:spPr>
          <a:xfrm rot="19607">
            <a:off x="-122" y="7484410"/>
            <a:ext cx="18288287" cy="0"/>
          </a:xfrm>
          <a:prstGeom prst="line">
            <a:avLst/>
          </a:prstGeom>
          <a:ln cap="flat" w="9525">
            <a:solidFill>
              <a:srgbClr val="A6A6A6"/>
            </a:solidFill>
            <a:prstDash val="solid"/>
            <a:headEnd type="none" len="sm" w="sm"/>
            <a:tailEnd type="none" len="sm" w="sm"/>
          </a:ln>
        </p:spPr>
      </p:sp>
      <p:sp>
        <p:nvSpPr>
          <p:cNvPr name="AutoShape 4" id="4"/>
          <p:cNvSpPr/>
          <p:nvPr/>
        </p:nvSpPr>
        <p:spPr>
          <a:xfrm rot="-5413360">
            <a:off x="4019815" y="5403951"/>
            <a:ext cx="4160972" cy="0"/>
          </a:xfrm>
          <a:prstGeom prst="line">
            <a:avLst/>
          </a:prstGeom>
          <a:ln cap="flat" w="9525">
            <a:solidFill>
              <a:srgbClr val="A6A6A6"/>
            </a:solidFill>
            <a:prstDash val="solid"/>
            <a:headEnd type="none" len="sm" w="sm"/>
            <a:tailEnd type="none" len="sm" w="sm"/>
          </a:ln>
        </p:spPr>
      </p:sp>
      <p:sp>
        <p:nvSpPr>
          <p:cNvPr name="AutoShape 5" id="5"/>
          <p:cNvSpPr/>
          <p:nvPr/>
        </p:nvSpPr>
        <p:spPr>
          <a:xfrm rot="-5413360">
            <a:off x="10107240" y="5403951"/>
            <a:ext cx="4160972" cy="0"/>
          </a:xfrm>
          <a:prstGeom prst="line">
            <a:avLst/>
          </a:prstGeom>
          <a:ln cap="flat" w="9525">
            <a:solidFill>
              <a:srgbClr val="A6A6A6"/>
            </a:solidFill>
            <a:prstDash val="solid"/>
            <a:headEnd type="none" len="sm" w="sm"/>
            <a:tailEnd type="none" len="sm" w="sm"/>
          </a:ln>
        </p:spPr>
      </p:sp>
      <p:grpSp>
        <p:nvGrpSpPr>
          <p:cNvPr name="Group 6" id="6"/>
          <p:cNvGrpSpPr/>
          <p:nvPr/>
        </p:nvGrpSpPr>
        <p:grpSpPr>
          <a:xfrm rot="0">
            <a:off x="6427543" y="4106005"/>
            <a:ext cx="5433013" cy="2605417"/>
            <a:chOff x="0" y="0"/>
            <a:chExt cx="7244018" cy="3473890"/>
          </a:xfrm>
        </p:grpSpPr>
        <p:sp>
          <p:nvSpPr>
            <p:cNvPr name="TextBox 7" id="7"/>
            <p:cNvSpPr txBox="true"/>
            <p:nvPr/>
          </p:nvSpPr>
          <p:spPr>
            <a:xfrm rot="0">
              <a:off x="0" y="19050"/>
              <a:ext cx="7244018" cy="946399"/>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Metodología</a:t>
              </a:r>
            </a:p>
          </p:txBody>
        </p:sp>
        <p:sp>
          <p:nvSpPr>
            <p:cNvPr name="TextBox 8" id="8"/>
            <p:cNvSpPr txBox="true"/>
            <p:nvPr/>
          </p:nvSpPr>
          <p:spPr>
            <a:xfrm rot="0">
              <a:off x="0" y="1095286"/>
              <a:ext cx="6539398" cy="400118"/>
            </a:xfrm>
            <a:prstGeom prst="rect">
              <a:avLst/>
            </a:prstGeom>
          </p:spPr>
          <p:txBody>
            <a:bodyPr anchor="t" rtlCol="false" tIns="0" lIns="0" bIns="0" rIns="0">
              <a:spAutoFit/>
            </a:bodyPr>
            <a:lstStyle/>
            <a:p>
              <a:pPr algn="l">
                <a:lnSpc>
                  <a:spcPts val="2516"/>
                </a:lnSpc>
              </a:pPr>
              <a:r>
                <a:rPr lang="en-US" sz="1735" spc="163">
                  <a:solidFill>
                    <a:srgbClr val="000000"/>
                  </a:solidFill>
                  <a:latin typeface="Glacial Indifference"/>
                  <a:ea typeface="Glacial Indifference"/>
                  <a:cs typeface="Glacial Indifference"/>
                  <a:sym typeface="Glacial Indifference"/>
                </a:rPr>
                <a:t>¿QUÉ VAMOS A HACER?</a:t>
              </a:r>
            </a:p>
          </p:txBody>
        </p:sp>
        <p:sp>
          <p:nvSpPr>
            <p:cNvPr name="TextBox 9" id="9"/>
            <p:cNvSpPr txBox="true"/>
            <p:nvPr/>
          </p:nvSpPr>
          <p:spPr>
            <a:xfrm rot="0">
              <a:off x="0" y="1626604"/>
              <a:ext cx="7244018" cy="1847286"/>
            </a:xfrm>
            <a:prstGeom prst="rect">
              <a:avLst/>
            </a:prstGeom>
          </p:spPr>
          <p:txBody>
            <a:bodyPr anchor="t" rtlCol="false" tIns="0" lIns="0" bIns="0" rIns="0">
              <a:spAutoFit/>
            </a:bodyPr>
            <a:lstStyle/>
            <a:p>
              <a:pPr algn="l">
                <a:lnSpc>
                  <a:spcPts val="1818"/>
                </a:lnSpc>
              </a:pPr>
              <a:r>
                <a:rPr lang="en-US" sz="1388" spc="27">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grpSp>
        <p:nvGrpSpPr>
          <p:cNvPr name="Group 10" id="10"/>
          <p:cNvGrpSpPr/>
          <p:nvPr/>
        </p:nvGrpSpPr>
        <p:grpSpPr>
          <a:xfrm rot="0">
            <a:off x="27" y="696725"/>
            <a:ext cx="8060582" cy="2106503"/>
            <a:chOff x="0" y="0"/>
            <a:chExt cx="2122952" cy="554799"/>
          </a:xfrm>
        </p:grpSpPr>
        <p:sp>
          <p:nvSpPr>
            <p:cNvPr name="Freeform 11" id="11"/>
            <p:cNvSpPr/>
            <p:nvPr/>
          </p:nvSpPr>
          <p:spPr>
            <a:xfrm flipH="false" flipV="false" rot="0">
              <a:off x="0" y="0"/>
              <a:ext cx="2122952" cy="554799"/>
            </a:xfrm>
            <a:custGeom>
              <a:avLst/>
              <a:gdLst/>
              <a:ahLst/>
              <a:cxnLst/>
              <a:rect r="r" b="b" t="t" l="l"/>
              <a:pathLst>
                <a:path h="554799" w="2122952">
                  <a:moveTo>
                    <a:pt x="1919752" y="0"/>
                  </a:moveTo>
                  <a:lnTo>
                    <a:pt x="0" y="0"/>
                  </a:lnTo>
                  <a:lnTo>
                    <a:pt x="0" y="554799"/>
                  </a:lnTo>
                  <a:lnTo>
                    <a:pt x="1919752" y="554799"/>
                  </a:lnTo>
                  <a:lnTo>
                    <a:pt x="2122952" y="277400"/>
                  </a:lnTo>
                  <a:lnTo>
                    <a:pt x="1919752" y="0"/>
                  </a:lnTo>
                  <a:close/>
                </a:path>
              </a:pathLst>
            </a:custGeom>
            <a:solidFill>
              <a:srgbClr val="D9D9D9">
                <a:alpha val="36863"/>
              </a:srgbClr>
            </a:solidFill>
          </p:spPr>
        </p:sp>
        <p:sp>
          <p:nvSpPr>
            <p:cNvPr name="TextBox 12" id="12"/>
            <p:cNvSpPr txBox="true"/>
            <p:nvPr/>
          </p:nvSpPr>
          <p:spPr>
            <a:xfrm>
              <a:off x="0" y="-66675"/>
              <a:ext cx="2008652" cy="621474"/>
            </a:xfrm>
            <a:prstGeom prst="rect">
              <a:avLst/>
            </a:prstGeom>
          </p:spPr>
          <p:txBody>
            <a:bodyPr anchor="ctr" rtlCol="false" tIns="50800" lIns="50800" bIns="50800" rIns="50800"/>
            <a:lstStyle/>
            <a:p>
              <a:pPr algn="ctr">
                <a:lnSpc>
                  <a:spcPts val="3624"/>
                </a:lnSpc>
              </a:pPr>
            </a:p>
          </p:txBody>
        </p:sp>
      </p:grpSp>
      <p:sp>
        <p:nvSpPr>
          <p:cNvPr name="TextBox 13" id="13"/>
          <p:cNvSpPr txBox="true"/>
          <p:nvPr/>
        </p:nvSpPr>
        <p:spPr>
          <a:xfrm rot="0">
            <a:off x="1028700" y="889715"/>
            <a:ext cx="13103867" cy="1174676"/>
          </a:xfrm>
          <a:prstGeom prst="rect">
            <a:avLst/>
          </a:prstGeom>
        </p:spPr>
        <p:txBody>
          <a:bodyPr anchor="t" rtlCol="false" tIns="0" lIns="0" bIns="0" rIns="0">
            <a:spAutoFit/>
          </a:bodyPr>
          <a:lstStyle/>
          <a:p>
            <a:pPr algn="l">
              <a:lnSpc>
                <a:spcPts val="9200"/>
              </a:lnSpc>
            </a:pPr>
            <a:r>
              <a:rPr lang="en-US" sz="8000">
                <a:solidFill>
                  <a:srgbClr val="132232"/>
                </a:solidFill>
                <a:latin typeface="Oswald"/>
                <a:ea typeface="Oswald"/>
                <a:cs typeface="Oswald"/>
                <a:sym typeface="Oswald"/>
              </a:rPr>
              <a:t>NUESTRA META</a:t>
            </a:r>
          </a:p>
        </p:txBody>
      </p:sp>
      <p:sp>
        <p:nvSpPr>
          <p:cNvPr name="TextBox 14" id="14"/>
          <p:cNvSpPr txBox="true"/>
          <p:nvPr/>
        </p:nvSpPr>
        <p:spPr>
          <a:xfrm rot="0">
            <a:off x="1028700" y="2110406"/>
            <a:ext cx="7929515" cy="444388"/>
          </a:xfrm>
          <a:prstGeom prst="rect">
            <a:avLst/>
          </a:prstGeom>
        </p:spPr>
        <p:txBody>
          <a:bodyPr anchor="t" rtlCol="false" tIns="0" lIns="0" bIns="0" rIns="0">
            <a:spAutoFit/>
          </a:bodyPr>
          <a:lstStyle/>
          <a:p>
            <a:pPr algn="l">
              <a:lnSpc>
                <a:spcPts val="3624"/>
              </a:lnSpc>
            </a:pPr>
            <a:r>
              <a:rPr lang="en-US" sz="2499" spc="234">
                <a:solidFill>
                  <a:srgbClr val="132232"/>
                </a:solidFill>
                <a:latin typeface="Glacial Indifference"/>
                <a:ea typeface="Glacial Indifference"/>
                <a:cs typeface="Glacial Indifference"/>
                <a:sym typeface="Glacial Indifference"/>
              </a:rPr>
              <a:t>¿A DÓNDE QUEREMOS LLEGAR?</a:t>
            </a:r>
          </a:p>
        </p:txBody>
      </p:sp>
      <p:grpSp>
        <p:nvGrpSpPr>
          <p:cNvPr name="Group 15" id="15"/>
          <p:cNvGrpSpPr/>
          <p:nvPr/>
        </p:nvGrpSpPr>
        <p:grpSpPr>
          <a:xfrm rot="0">
            <a:off x="406789" y="4106005"/>
            <a:ext cx="5433013" cy="2605417"/>
            <a:chOff x="0" y="0"/>
            <a:chExt cx="7244018" cy="3473890"/>
          </a:xfrm>
        </p:grpSpPr>
        <p:sp>
          <p:nvSpPr>
            <p:cNvPr name="TextBox 16" id="16"/>
            <p:cNvSpPr txBox="true"/>
            <p:nvPr/>
          </p:nvSpPr>
          <p:spPr>
            <a:xfrm rot="0">
              <a:off x="0" y="19050"/>
              <a:ext cx="7244018" cy="946399"/>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Objetivo</a:t>
              </a:r>
            </a:p>
          </p:txBody>
        </p:sp>
        <p:sp>
          <p:nvSpPr>
            <p:cNvPr name="TextBox 17" id="17"/>
            <p:cNvSpPr txBox="true"/>
            <p:nvPr/>
          </p:nvSpPr>
          <p:spPr>
            <a:xfrm rot="0">
              <a:off x="0" y="1095286"/>
              <a:ext cx="6539398" cy="400118"/>
            </a:xfrm>
            <a:prstGeom prst="rect">
              <a:avLst/>
            </a:prstGeom>
          </p:spPr>
          <p:txBody>
            <a:bodyPr anchor="t" rtlCol="false" tIns="0" lIns="0" bIns="0" rIns="0">
              <a:spAutoFit/>
            </a:bodyPr>
            <a:lstStyle/>
            <a:p>
              <a:pPr algn="l">
                <a:lnSpc>
                  <a:spcPts val="2516"/>
                </a:lnSpc>
              </a:pPr>
              <a:r>
                <a:rPr lang="en-US" sz="1735" spc="163">
                  <a:solidFill>
                    <a:srgbClr val="000000"/>
                  </a:solidFill>
                  <a:latin typeface="Glacial Indifference"/>
                  <a:ea typeface="Glacial Indifference"/>
                  <a:cs typeface="Glacial Indifference"/>
                  <a:sym typeface="Glacial Indifference"/>
                </a:rPr>
                <a:t>¿A DÓNDE QUEREMOS LLEGAR?</a:t>
              </a:r>
            </a:p>
          </p:txBody>
        </p:sp>
        <p:sp>
          <p:nvSpPr>
            <p:cNvPr name="TextBox 18" id="18"/>
            <p:cNvSpPr txBox="true"/>
            <p:nvPr/>
          </p:nvSpPr>
          <p:spPr>
            <a:xfrm rot="0">
              <a:off x="0" y="1626604"/>
              <a:ext cx="7244018" cy="1847286"/>
            </a:xfrm>
            <a:prstGeom prst="rect">
              <a:avLst/>
            </a:prstGeom>
          </p:spPr>
          <p:txBody>
            <a:bodyPr anchor="t" rtlCol="false" tIns="0" lIns="0" bIns="0" rIns="0">
              <a:spAutoFit/>
            </a:bodyPr>
            <a:lstStyle/>
            <a:p>
              <a:pPr algn="l">
                <a:lnSpc>
                  <a:spcPts val="1818"/>
                </a:lnSpc>
              </a:pPr>
              <a:r>
                <a:rPr lang="en-US" sz="1388" spc="27">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grpSp>
        <p:nvGrpSpPr>
          <p:cNvPr name="Group 19" id="19"/>
          <p:cNvGrpSpPr/>
          <p:nvPr/>
        </p:nvGrpSpPr>
        <p:grpSpPr>
          <a:xfrm rot="0">
            <a:off x="12514900" y="4106005"/>
            <a:ext cx="5433013" cy="2605417"/>
            <a:chOff x="0" y="0"/>
            <a:chExt cx="7244018" cy="3473890"/>
          </a:xfrm>
        </p:grpSpPr>
        <p:sp>
          <p:nvSpPr>
            <p:cNvPr name="TextBox 20" id="20"/>
            <p:cNvSpPr txBox="true"/>
            <p:nvPr/>
          </p:nvSpPr>
          <p:spPr>
            <a:xfrm rot="0">
              <a:off x="0" y="19050"/>
              <a:ext cx="7244018" cy="946399"/>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Resultado</a:t>
              </a:r>
            </a:p>
          </p:txBody>
        </p:sp>
        <p:sp>
          <p:nvSpPr>
            <p:cNvPr name="TextBox 21" id="21"/>
            <p:cNvSpPr txBox="true"/>
            <p:nvPr/>
          </p:nvSpPr>
          <p:spPr>
            <a:xfrm rot="0">
              <a:off x="0" y="1095286"/>
              <a:ext cx="6539398" cy="400118"/>
            </a:xfrm>
            <a:prstGeom prst="rect">
              <a:avLst/>
            </a:prstGeom>
          </p:spPr>
          <p:txBody>
            <a:bodyPr anchor="t" rtlCol="false" tIns="0" lIns="0" bIns="0" rIns="0">
              <a:spAutoFit/>
            </a:bodyPr>
            <a:lstStyle/>
            <a:p>
              <a:pPr algn="l">
                <a:lnSpc>
                  <a:spcPts val="2516"/>
                </a:lnSpc>
              </a:pPr>
              <a:r>
                <a:rPr lang="en-US" sz="1735" spc="163">
                  <a:solidFill>
                    <a:srgbClr val="000000"/>
                  </a:solidFill>
                  <a:latin typeface="Glacial Indifference"/>
                  <a:ea typeface="Glacial Indifference"/>
                  <a:cs typeface="Glacial Indifference"/>
                  <a:sym typeface="Glacial Indifference"/>
                </a:rPr>
                <a:t>¿QUÉ VAMOS A LOGRAR?</a:t>
              </a:r>
            </a:p>
          </p:txBody>
        </p:sp>
        <p:sp>
          <p:nvSpPr>
            <p:cNvPr name="TextBox 22" id="22"/>
            <p:cNvSpPr txBox="true"/>
            <p:nvPr/>
          </p:nvSpPr>
          <p:spPr>
            <a:xfrm rot="0">
              <a:off x="0" y="1626604"/>
              <a:ext cx="7244018" cy="1847286"/>
            </a:xfrm>
            <a:prstGeom prst="rect">
              <a:avLst/>
            </a:prstGeom>
          </p:spPr>
          <p:txBody>
            <a:bodyPr anchor="t" rtlCol="false" tIns="0" lIns="0" bIns="0" rIns="0">
              <a:spAutoFit/>
            </a:bodyPr>
            <a:lstStyle/>
            <a:p>
              <a:pPr algn="l">
                <a:lnSpc>
                  <a:spcPts val="1818"/>
                </a:lnSpc>
              </a:pPr>
              <a:r>
                <a:rPr lang="en-US" sz="1388" spc="27">
                  <a:solidFill>
                    <a:srgbClr val="000000"/>
                  </a:solidFill>
                  <a:latin typeface="Codec Pro"/>
                  <a:ea typeface="Codec Pro"/>
                  <a:cs typeface="Codec Pro"/>
                  <a:sym typeface="Codec Pro"/>
                </a:rPr>
                <a:t>LLorem ipsum dolor sit amet, consectetur adipiscing elit. Vivamus ex lacus, imperdiet sed mauris vel, maximus varius diam. Nunc interdum imperdiet dui, id aliquet massa rhoncus vel. Proin sed aliquam nulla. Donec sed maximus justo, vel faucibus nulla. Praesent fringilla sapien sed urna molestie dignissim.</a:t>
              </a:r>
            </a:p>
          </p:txBody>
        </p:sp>
      </p:grpSp>
      <p:grpSp>
        <p:nvGrpSpPr>
          <p:cNvPr name="Group 23" id="23"/>
          <p:cNvGrpSpPr/>
          <p:nvPr/>
        </p:nvGrpSpPr>
        <p:grpSpPr>
          <a:xfrm rot="0">
            <a:off x="406789" y="7857580"/>
            <a:ext cx="17265519" cy="1922078"/>
            <a:chOff x="0" y="0"/>
            <a:chExt cx="23020692" cy="2562771"/>
          </a:xfrm>
        </p:grpSpPr>
        <p:sp>
          <p:nvSpPr>
            <p:cNvPr name="TextBox 24" id="24"/>
            <p:cNvSpPr txBox="true"/>
            <p:nvPr/>
          </p:nvSpPr>
          <p:spPr>
            <a:xfrm rot="0">
              <a:off x="0" y="19050"/>
              <a:ext cx="23020692" cy="946399"/>
            </a:xfrm>
            <a:prstGeom prst="rect">
              <a:avLst/>
            </a:prstGeom>
          </p:spPr>
          <p:txBody>
            <a:bodyPr anchor="t" rtlCol="false" tIns="0" lIns="0" bIns="0" rIns="0">
              <a:spAutoFit/>
            </a:bodyPr>
            <a:lstStyle/>
            <a:p>
              <a:pPr algn="l">
                <a:lnSpc>
                  <a:spcPts val="5510"/>
                </a:lnSpc>
              </a:pPr>
              <a:r>
                <a:rPr lang="en-US" sz="4791">
                  <a:solidFill>
                    <a:srgbClr val="000000"/>
                  </a:solidFill>
                  <a:latin typeface="Oswald"/>
                  <a:ea typeface="Oswald"/>
                  <a:cs typeface="Oswald"/>
                  <a:sym typeface="Oswald"/>
                </a:rPr>
                <a:t>Riesgos</a:t>
              </a:r>
            </a:p>
          </p:txBody>
        </p:sp>
        <p:sp>
          <p:nvSpPr>
            <p:cNvPr name="TextBox 25" id="25"/>
            <p:cNvSpPr txBox="true"/>
            <p:nvPr/>
          </p:nvSpPr>
          <p:spPr>
            <a:xfrm rot="0">
              <a:off x="0" y="1095286"/>
              <a:ext cx="20781488" cy="400118"/>
            </a:xfrm>
            <a:prstGeom prst="rect">
              <a:avLst/>
            </a:prstGeom>
          </p:spPr>
          <p:txBody>
            <a:bodyPr anchor="t" rtlCol="false" tIns="0" lIns="0" bIns="0" rIns="0">
              <a:spAutoFit/>
            </a:bodyPr>
            <a:lstStyle/>
            <a:p>
              <a:pPr algn="l">
                <a:lnSpc>
                  <a:spcPts val="2516"/>
                </a:lnSpc>
              </a:pPr>
              <a:r>
                <a:rPr lang="en-US" sz="1735" spc="163">
                  <a:solidFill>
                    <a:srgbClr val="000000"/>
                  </a:solidFill>
                  <a:latin typeface="Glacial Indifference"/>
                  <a:ea typeface="Glacial Indifference"/>
                  <a:cs typeface="Glacial Indifference"/>
                  <a:sym typeface="Glacial Indifference"/>
                </a:rPr>
                <a:t>PUNTOS A TENER EN CUENTA</a:t>
              </a:r>
            </a:p>
          </p:txBody>
        </p:sp>
        <p:sp>
          <p:nvSpPr>
            <p:cNvPr name="TextBox 26" id="26"/>
            <p:cNvSpPr txBox="true"/>
            <p:nvPr/>
          </p:nvSpPr>
          <p:spPr>
            <a:xfrm rot="0">
              <a:off x="0" y="1626604"/>
              <a:ext cx="23020692" cy="936167"/>
            </a:xfrm>
            <a:prstGeom prst="rect">
              <a:avLst/>
            </a:prstGeom>
          </p:spPr>
          <p:txBody>
            <a:bodyPr anchor="t" rtlCol="false" tIns="0" lIns="0" bIns="0" rIns="0">
              <a:spAutoFit/>
            </a:bodyPr>
            <a:lstStyle/>
            <a:p>
              <a:pPr algn="l" marL="299723" indent="-149862" lvl="1">
                <a:lnSpc>
                  <a:spcPts val="1818"/>
                </a:lnSpc>
                <a:buFont typeface="Arial"/>
                <a:buChar char="•"/>
              </a:pPr>
              <a:r>
                <a:rPr lang="en-US" sz="1388" spc="27">
                  <a:solidFill>
                    <a:srgbClr val="000000"/>
                  </a:solidFill>
                  <a:latin typeface="Codec Pro"/>
                  <a:ea typeface="Codec Pro"/>
                  <a:cs typeface="Codec Pro"/>
                  <a:sym typeface="Codec Pro"/>
                </a:rPr>
                <a:t>Lorem ipsum dolor sit amet, consectetur adipiscing elit. Vivamus ex lacus, imperdiet sed mauris vel, maximus varius diam. </a:t>
              </a:r>
            </a:p>
            <a:p>
              <a:pPr algn="l" marL="299723" indent="-149862" lvl="1">
                <a:lnSpc>
                  <a:spcPts val="1818"/>
                </a:lnSpc>
                <a:buFont typeface="Arial"/>
                <a:buChar char="•"/>
              </a:pPr>
              <a:r>
                <a:rPr lang="en-US" sz="1388" spc="27">
                  <a:solidFill>
                    <a:srgbClr val="000000"/>
                  </a:solidFill>
                  <a:latin typeface="Codec Pro"/>
                  <a:ea typeface="Codec Pro"/>
                  <a:cs typeface="Codec Pro"/>
                  <a:sym typeface="Codec Pro"/>
                </a:rPr>
                <a:t>Nunc interdum imperdiet dui, id aliquet massa rhoncus vel. Proin sed aliquam nulla.</a:t>
              </a:r>
            </a:p>
            <a:p>
              <a:pPr algn="l" marL="299723" indent="-149862" lvl="1">
                <a:lnSpc>
                  <a:spcPts val="1818"/>
                </a:lnSpc>
                <a:buFont typeface="Arial"/>
                <a:buChar char="•"/>
              </a:pPr>
              <a:r>
                <a:rPr lang="en-US" sz="1388" spc="27">
                  <a:solidFill>
                    <a:srgbClr val="000000"/>
                  </a:solidFill>
                  <a:latin typeface="Codec Pro"/>
                  <a:ea typeface="Codec Pro"/>
                  <a:cs typeface="Codec Pro"/>
                  <a:sym typeface="Codec Pro"/>
                </a:rPr>
                <a:t> Donec sed maximus justo, vel faucibus nulla. Praesent fringilla sapien sed urna molestie dignissim.</a:t>
              </a:r>
            </a:p>
          </p:txBody>
        </p:sp>
      </p:grpSp>
    </p:spTree>
  </p:cSld>
  <p:clrMapOvr>
    <a:masterClrMapping/>
  </p:clrMapOvr>
</p:sld>
</file>

<file path=ppt/slides/slide1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6906257" cy="10287000"/>
            <a:chOff x="0" y="0"/>
            <a:chExt cx="1818932" cy="2709333"/>
          </a:xfrm>
        </p:grpSpPr>
        <p:sp>
          <p:nvSpPr>
            <p:cNvPr name="Freeform 3" id="3"/>
            <p:cNvSpPr/>
            <p:nvPr/>
          </p:nvSpPr>
          <p:spPr>
            <a:xfrm flipH="false" flipV="false" rot="0">
              <a:off x="0" y="0"/>
              <a:ext cx="1818932" cy="2709333"/>
            </a:xfrm>
            <a:custGeom>
              <a:avLst/>
              <a:gdLst/>
              <a:ahLst/>
              <a:cxnLst/>
              <a:rect r="r" b="b" t="t" l="l"/>
              <a:pathLst>
                <a:path h="2709333" w="1818932">
                  <a:moveTo>
                    <a:pt x="0" y="0"/>
                  </a:moveTo>
                  <a:lnTo>
                    <a:pt x="1818932" y="0"/>
                  </a:lnTo>
                  <a:lnTo>
                    <a:pt x="1818932" y="2709333"/>
                  </a:lnTo>
                  <a:lnTo>
                    <a:pt x="0" y="2709333"/>
                  </a:lnTo>
                  <a:close/>
                </a:path>
              </a:pathLst>
            </a:custGeom>
            <a:solidFill>
              <a:srgbClr val="132232"/>
            </a:solidFill>
          </p:spPr>
        </p:sp>
        <p:sp>
          <p:nvSpPr>
            <p:cNvPr name="TextBox 4" id="4"/>
            <p:cNvSpPr txBox="true"/>
            <p:nvPr/>
          </p:nvSpPr>
          <p:spPr>
            <a:xfrm>
              <a:off x="0" y="-66675"/>
              <a:ext cx="1818932" cy="2776008"/>
            </a:xfrm>
            <a:prstGeom prst="rect">
              <a:avLst/>
            </a:prstGeom>
          </p:spPr>
          <p:txBody>
            <a:bodyPr anchor="ctr" rtlCol="false" tIns="50800" lIns="50800" bIns="50800" rIns="50800"/>
            <a:lstStyle/>
            <a:p>
              <a:pPr algn="ctr">
                <a:lnSpc>
                  <a:spcPts val="3624"/>
                </a:lnSpc>
              </a:pPr>
            </a:p>
          </p:txBody>
        </p:sp>
      </p:grpSp>
      <p:grpSp>
        <p:nvGrpSpPr>
          <p:cNvPr name="Group 5" id="5"/>
          <p:cNvGrpSpPr/>
          <p:nvPr/>
        </p:nvGrpSpPr>
        <p:grpSpPr>
          <a:xfrm rot="0">
            <a:off x="524238" y="3743322"/>
            <a:ext cx="5857780" cy="2800629"/>
            <a:chOff x="0" y="0"/>
            <a:chExt cx="7810373" cy="3734173"/>
          </a:xfrm>
        </p:grpSpPr>
        <p:sp>
          <p:nvSpPr>
            <p:cNvPr name="TextBox 6" id="6"/>
            <p:cNvSpPr txBox="true"/>
            <p:nvPr/>
          </p:nvSpPr>
          <p:spPr>
            <a:xfrm rot="0">
              <a:off x="0" y="38100"/>
              <a:ext cx="7810373" cy="1445603"/>
            </a:xfrm>
            <a:prstGeom prst="rect">
              <a:avLst/>
            </a:prstGeom>
          </p:spPr>
          <p:txBody>
            <a:bodyPr anchor="t" rtlCol="false" tIns="0" lIns="0" bIns="0" rIns="0">
              <a:spAutoFit/>
            </a:bodyPr>
            <a:lstStyle/>
            <a:p>
              <a:pPr algn="l">
                <a:lnSpc>
                  <a:spcPts val="8441"/>
                </a:lnSpc>
              </a:pPr>
              <a:r>
                <a:rPr lang="en-US" sz="7340">
                  <a:solidFill>
                    <a:srgbClr val="FFFFFF"/>
                  </a:solidFill>
                  <a:latin typeface="Oswald"/>
                  <a:ea typeface="Oswald"/>
                  <a:cs typeface="Oswald"/>
                  <a:sym typeface="Oswald"/>
                </a:rPr>
                <a:t>RESULTADOS</a:t>
              </a:r>
            </a:p>
          </p:txBody>
        </p:sp>
        <p:sp>
          <p:nvSpPr>
            <p:cNvPr name="TextBox 7" id="7"/>
            <p:cNvSpPr txBox="true"/>
            <p:nvPr/>
          </p:nvSpPr>
          <p:spPr>
            <a:xfrm rot="0">
              <a:off x="0" y="1651610"/>
              <a:ext cx="7050665" cy="1087967"/>
            </a:xfrm>
            <a:prstGeom prst="rect">
              <a:avLst/>
            </a:prstGeom>
          </p:spPr>
          <p:txBody>
            <a:bodyPr anchor="t" rtlCol="false" tIns="0" lIns="0" bIns="0" rIns="0">
              <a:spAutoFit/>
            </a:bodyPr>
            <a:lstStyle/>
            <a:p>
              <a:pPr algn="l">
                <a:lnSpc>
                  <a:spcPts val="3326"/>
                </a:lnSpc>
              </a:pPr>
              <a:r>
                <a:rPr lang="en-US" sz="2293" spc="215">
                  <a:solidFill>
                    <a:srgbClr val="FFFFFF"/>
                  </a:solidFill>
                  <a:latin typeface="Glacial Indifference"/>
                  <a:ea typeface="Glacial Indifference"/>
                  <a:cs typeface="Glacial Indifference"/>
                  <a:sym typeface="Glacial Indifference"/>
                </a:rPr>
                <a:t>¿CÓMO PODEMOS MEDIR NUESTRO IMPACTO?</a:t>
              </a:r>
            </a:p>
          </p:txBody>
        </p:sp>
        <p:sp>
          <p:nvSpPr>
            <p:cNvPr name="TextBox 8" id="8"/>
            <p:cNvSpPr txBox="true"/>
            <p:nvPr/>
          </p:nvSpPr>
          <p:spPr>
            <a:xfrm rot="0">
              <a:off x="0" y="2918812"/>
              <a:ext cx="7810373" cy="815361"/>
            </a:xfrm>
            <a:prstGeom prst="rect">
              <a:avLst/>
            </a:prstGeom>
          </p:spPr>
          <p:txBody>
            <a:bodyPr anchor="t" rtlCol="false" tIns="0" lIns="0" bIns="0" rIns="0">
              <a:spAutoFit/>
            </a:bodyPr>
            <a:lstStyle/>
            <a:p>
              <a:pPr algn="l">
                <a:lnSpc>
                  <a:spcPts val="2403"/>
                </a:lnSpc>
              </a:pPr>
              <a:r>
                <a:rPr lang="en-US" sz="1835" spc="36">
                  <a:solidFill>
                    <a:srgbClr val="FFFFFF"/>
                  </a:solidFill>
                  <a:latin typeface="Codec Pro"/>
                  <a:ea typeface="Codec Pro"/>
                  <a:cs typeface="Codec Pro"/>
                  <a:sym typeface="Codec Pro"/>
                </a:rPr>
                <a:t>Identificamos nuestros  métricas principales y objetivos de negocio</a:t>
              </a:r>
            </a:p>
          </p:txBody>
        </p:sp>
      </p:grpSp>
      <p:sp>
        <p:nvSpPr>
          <p:cNvPr name="AutoShape 9" id="9"/>
          <p:cNvSpPr/>
          <p:nvPr/>
        </p:nvSpPr>
        <p:spPr>
          <a:xfrm rot="-5398408">
            <a:off x="2758522" y="5138735"/>
            <a:ext cx="10287001" cy="0"/>
          </a:xfrm>
          <a:prstGeom prst="line">
            <a:avLst/>
          </a:prstGeom>
          <a:ln cap="flat" w="9525">
            <a:solidFill>
              <a:srgbClr val="000000"/>
            </a:solidFill>
            <a:prstDash val="solid"/>
            <a:headEnd type="none" len="sm" w="sm"/>
            <a:tailEnd type="none" len="sm" w="sm"/>
          </a:ln>
        </p:spPr>
      </p:sp>
      <p:grpSp>
        <p:nvGrpSpPr>
          <p:cNvPr name="Group 10" id="10"/>
          <p:cNvGrpSpPr/>
          <p:nvPr/>
        </p:nvGrpSpPr>
        <p:grpSpPr>
          <a:xfrm rot="0">
            <a:off x="7547722" y="1653944"/>
            <a:ext cx="722889" cy="722889"/>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2" id="12"/>
            <p:cNvSpPr txBox="true"/>
            <p:nvPr/>
          </p:nvSpPr>
          <p:spPr>
            <a:xfrm>
              <a:off x="76200" y="9525"/>
              <a:ext cx="660400" cy="727075"/>
            </a:xfrm>
            <a:prstGeom prst="rect">
              <a:avLst/>
            </a:prstGeom>
          </p:spPr>
          <p:txBody>
            <a:bodyPr anchor="ctr" rtlCol="false" tIns="50800" lIns="50800" bIns="50800" rIns="50800"/>
            <a:lstStyle/>
            <a:p>
              <a:pPr algn="ctr">
                <a:lnSpc>
                  <a:spcPts val="3624"/>
                </a:lnSpc>
              </a:pPr>
              <a:r>
                <a:rPr lang="en-US" b="true" sz="2499" spc="234">
                  <a:solidFill>
                    <a:srgbClr val="FFFFFF"/>
                  </a:solidFill>
                  <a:latin typeface="Glacial Indifference Bold"/>
                  <a:ea typeface="Glacial Indifference Bold"/>
                  <a:cs typeface="Glacial Indifference Bold"/>
                  <a:sym typeface="Glacial Indifference Bold"/>
                </a:rPr>
                <a:t>1</a:t>
              </a:r>
            </a:p>
          </p:txBody>
        </p:sp>
      </p:grpSp>
      <p:sp>
        <p:nvSpPr>
          <p:cNvPr name="TextBox 13" id="13"/>
          <p:cNvSpPr txBox="true"/>
          <p:nvPr/>
        </p:nvSpPr>
        <p:spPr>
          <a:xfrm rot="0">
            <a:off x="8573802" y="1471763"/>
            <a:ext cx="9021238" cy="492286"/>
          </a:xfrm>
          <a:prstGeom prst="rect">
            <a:avLst/>
          </a:prstGeom>
        </p:spPr>
        <p:txBody>
          <a:bodyPr anchor="t" rtlCol="false" tIns="0" lIns="0" bIns="0" rIns="0">
            <a:spAutoFit/>
          </a:bodyPr>
          <a:lstStyle/>
          <a:p>
            <a:pPr algn="l">
              <a:lnSpc>
                <a:spcPts val="4047"/>
              </a:lnSpc>
            </a:pPr>
            <a:r>
              <a:rPr lang="en-US" sz="2791" spc="262">
                <a:solidFill>
                  <a:srgbClr val="000000"/>
                </a:solidFill>
                <a:latin typeface="Glacial Indifference"/>
                <a:ea typeface="Glacial Indifference"/>
                <a:cs typeface="Glacial Indifference"/>
                <a:sym typeface="Glacial Indifference"/>
              </a:rPr>
              <a:t>KPI # 1 - CAPTACIÓN</a:t>
            </a:r>
          </a:p>
        </p:txBody>
      </p:sp>
      <p:sp>
        <p:nvSpPr>
          <p:cNvPr name="TextBox 14" id="14"/>
          <p:cNvSpPr txBox="true"/>
          <p:nvPr/>
        </p:nvSpPr>
        <p:spPr>
          <a:xfrm rot="0">
            <a:off x="8573802" y="2085902"/>
            <a:ext cx="5915280" cy="406953"/>
          </a:xfrm>
          <a:prstGeom prst="rect">
            <a:avLst/>
          </a:prstGeom>
        </p:spPr>
        <p:txBody>
          <a:bodyPr anchor="t" rtlCol="false" tIns="0" lIns="0" bIns="0" rIns="0">
            <a:spAutoFit/>
          </a:bodyPr>
          <a:lstStyle/>
          <a:p>
            <a:pPr algn="l">
              <a:lnSpc>
                <a:spcPts val="2925"/>
              </a:lnSpc>
            </a:pPr>
            <a:r>
              <a:rPr lang="en-US" sz="2233" spc="44">
                <a:solidFill>
                  <a:srgbClr val="000000"/>
                </a:solidFill>
                <a:latin typeface="Codec Pro"/>
                <a:ea typeface="Codec Pro"/>
                <a:cs typeface="Codec Pro"/>
                <a:sym typeface="Codec Pro"/>
              </a:rPr>
              <a:t>Objetivo: 40% captación de mercado</a:t>
            </a:r>
          </a:p>
        </p:txBody>
      </p:sp>
      <p:grpSp>
        <p:nvGrpSpPr>
          <p:cNvPr name="Group 15" id="15"/>
          <p:cNvGrpSpPr/>
          <p:nvPr/>
        </p:nvGrpSpPr>
        <p:grpSpPr>
          <a:xfrm rot="0">
            <a:off x="7547722" y="3739350"/>
            <a:ext cx="722889" cy="722889"/>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17" id="17"/>
            <p:cNvSpPr txBox="true"/>
            <p:nvPr/>
          </p:nvSpPr>
          <p:spPr>
            <a:xfrm>
              <a:off x="76200" y="9525"/>
              <a:ext cx="660400" cy="727075"/>
            </a:xfrm>
            <a:prstGeom prst="rect">
              <a:avLst/>
            </a:prstGeom>
          </p:spPr>
          <p:txBody>
            <a:bodyPr anchor="ctr" rtlCol="false" tIns="50800" lIns="50800" bIns="50800" rIns="50800"/>
            <a:lstStyle/>
            <a:p>
              <a:pPr algn="ctr">
                <a:lnSpc>
                  <a:spcPts val="3624"/>
                </a:lnSpc>
              </a:pPr>
              <a:r>
                <a:rPr lang="en-US" b="true" sz="2499" spc="234">
                  <a:solidFill>
                    <a:srgbClr val="FFFFFF"/>
                  </a:solidFill>
                  <a:latin typeface="Glacial Indifference Bold"/>
                  <a:ea typeface="Glacial Indifference Bold"/>
                  <a:cs typeface="Glacial Indifference Bold"/>
                  <a:sym typeface="Glacial Indifference Bold"/>
                </a:rPr>
                <a:t>2</a:t>
              </a:r>
            </a:p>
          </p:txBody>
        </p:sp>
      </p:grpSp>
      <p:sp>
        <p:nvSpPr>
          <p:cNvPr name="TextBox 18" id="18"/>
          <p:cNvSpPr txBox="true"/>
          <p:nvPr/>
        </p:nvSpPr>
        <p:spPr>
          <a:xfrm rot="0">
            <a:off x="8573802" y="3557169"/>
            <a:ext cx="9021238" cy="492286"/>
          </a:xfrm>
          <a:prstGeom prst="rect">
            <a:avLst/>
          </a:prstGeom>
        </p:spPr>
        <p:txBody>
          <a:bodyPr anchor="t" rtlCol="false" tIns="0" lIns="0" bIns="0" rIns="0">
            <a:spAutoFit/>
          </a:bodyPr>
          <a:lstStyle/>
          <a:p>
            <a:pPr algn="l">
              <a:lnSpc>
                <a:spcPts val="4047"/>
              </a:lnSpc>
            </a:pPr>
            <a:r>
              <a:rPr lang="en-US" sz="2791" spc="262">
                <a:solidFill>
                  <a:srgbClr val="000000"/>
                </a:solidFill>
                <a:latin typeface="Glacial Indifference"/>
                <a:ea typeface="Glacial Indifference"/>
                <a:cs typeface="Glacial Indifference"/>
                <a:sym typeface="Glacial Indifference"/>
              </a:rPr>
              <a:t>KPI # 2 - TASA DE CLIC</a:t>
            </a:r>
          </a:p>
        </p:txBody>
      </p:sp>
      <p:sp>
        <p:nvSpPr>
          <p:cNvPr name="TextBox 19" id="19"/>
          <p:cNvSpPr txBox="true"/>
          <p:nvPr/>
        </p:nvSpPr>
        <p:spPr>
          <a:xfrm rot="0">
            <a:off x="8573802" y="4171308"/>
            <a:ext cx="5915280" cy="406953"/>
          </a:xfrm>
          <a:prstGeom prst="rect">
            <a:avLst/>
          </a:prstGeom>
        </p:spPr>
        <p:txBody>
          <a:bodyPr anchor="t" rtlCol="false" tIns="0" lIns="0" bIns="0" rIns="0">
            <a:spAutoFit/>
          </a:bodyPr>
          <a:lstStyle/>
          <a:p>
            <a:pPr algn="l">
              <a:lnSpc>
                <a:spcPts val="2925"/>
              </a:lnSpc>
            </a:pPr>
            <a:r>
              <a:rPr lang="en-US" sz="2233" spc="44">
                <a:solidFill>
                  <a:srgbClr val="000000"/>
                </a:solidFill>
                <a:latin typeface="Codec Pro"/>
                <a:ea typeface="Codec Pro"/>
                <a:cs typeface="Codec Pro"/>
                <a:sym typeface="Codec Pro"/>
              </a:rPr>
              <a:t>Objetivo: 7% de crecimiento en CTR</a:t>
            </a:r>
          </a:p>
        </p:txBody>
      </p:sp>
      <p:grpSp>
        <p:nvGrpSpPr>
          <p:cNvPr name="Group 20" id="20"/>
          <p:cNvGrpSpPr/>
          <p:nvPr/>
        </p:nvGrpSpPr>
        <p:grpSpPr>
          <a:xfrm rot="0">
            <a:off x="7547722" y="5824756"/>
            <a:ext cx="722889" cy="722889"/>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2" id="22"/>
            <p:cNvSpPr txBox="true"/>
            <p:nvPr/>
          </p:nvSpPr>
          <p:spPr>
            <a:xfrm>
              <a:off x="76200" y="9525"/>
              <a:ext cx="660400" cy="727075"/>
            </a:xfrm>
            <a:prstGeom prst="rect">
              <a:avLst/>
            </a:prstGeom>
          </p:spPr>
          <p:txBody>
            <a:bodyPr anchor="ctr" rtlCol="false" tIns="50800" lIns="50800" bIns="50800" rIns="50800"/>
            <a:lstStyle/>
            <a:p>
              <a:pPr algn="ctr">
                <a:lnSpc>
                  <a:spcPts val="3624"/>
                </a:lnSpc>
              </a:pPr>
              <a:r>
                <a:rPr lang="en-US" b="true" sz="2499" spc="234">
                  <a:solidFill>
                    <a:srgbClr val="FFFFFF"/>
                  </a:solidFill>
                  <a:latin typeface="Glacial Indifference Bold"/>
                  <a:ea typeface="Glacial Indifference Bold"/>
                  <a:cs typeface="Glacial Indifference Bold"/>
                  <a:sym typeface="Glacial Indifference Bold"/>
                </a:rPr>
                <a:t>3</a:t>
              </a:r>
            </a:p>
          </p:txBody>
        </p:sp>
      </p:grpSp>
      <p:sp>
        <p:nvSpPr>
          <p:cNvPr name="TextBox 23" id="23"/>
          <p:cNvSpPr txBox="true"/>
          <p:nvPr/>
        </p:nvSpPr>
        <p:spPr>
          <a:xfrm rot="0">
            <a:off x="8573802" y="5642575"/>
            <a:ext cx="9021238" cy="492286"/>
          </a:xfrm>
          <a:prstGeom prst="rect">
            <a:avLst/>
          </a:prstGeom>
        </p:spPr>
        <p:txBody>
          <a:bodyPr anchor="t" rtlCol="false" tIns="0" lIns="0" bIns="0" rIns="0">
            <a:spAutoFit/>
          </a:bodyPr>
          <a:lstStyle/>
          <a:p>
            <a:pPr algn="l">
              <a:lnSpc>
                <a:spcPts val="4047"/>
              </a:lnSpc>
            </a:pPr>
            <a:r>
              <a:rPr lang="en-US" sz="2791" spc="262">
                <a:solidFill>
                  <a:srgbClr val="000000"/>
                </a:solidFill>
                <a:latin typeface="Glacial Indifference"/>
                <a:ea typeface="Glacial Indifference"/>
                <a:cs typeface="Glacial Indifference"/>
                <a:sym typeface="Glacial Indifference"/>
              </a:rPr>
              <a:t>KPI # 3 - TRÁFICO WEB</a:t>
            </a:r>
          </a:p>
        </p:txBody>
      </p:sp>
      <p:sp>
        <p:nvSpPr>
          <p:cNvPr name="TextBox 24" id="24"/>
          <p:cNvSpPr txBox="true"/>
          <p:nvPr/>
        </p:nvSpPr>
        <p:spPr>
          <a:xfrm rot="0">
            <a:off x="8573802" y="6256714"/>
            <a:ext cx="5915280" cy="406953"/>
          </a:xfrm>
          <a:prstGeom prst="rect">
            <a:avLst/>
          </a:prstGeom>
        </p:spPr>
        <p:txBody>
          <a:bodyPr anchor="t" rtlCol="false" tIns="0" lIns="0" bIns="0" rIns="0">
            <a:spAutoFit/>
          </a:bodyPr>
          <a:lstStyle/>
          <a:p>
            <a:pPr algn="l">
              <a:lnSpc>
                <a:spcPts val="2925"/>
              </a:lnSpc>
            </a:pPr>
            <a:r>
              <a:rPr lang="en-US" sz="2233" spc="44">
                <a:solidFill>
                  <a:srgbClr val="000000"/>
                </a:solidFill>
                <a:latin typeface="Codec Pro"/>
                <a:ea typeface="Codec Pro"/>
                <a:cs typeface="Codec Pro"/>
                <a:sym typeface="Codec Pro"/>
              </a:rPr>
              <a:t>Objetivo: Crecimiento del 20% de visitas</a:t>
            </a:r>
          </a:p>
        </p:txBody>
      </p:sp>
      <p:grpSp>
        <p:nvGrpSpPr>
          <p:cNvPr name="Group 25" id="25"/>
          <p:cNvGrpSpPr/>
          <p:nvPr/>
        </p:nvGrpSpPr>
        <p:grpSpPr>
          <a:xfrm rot="0">
            <a:off x="7547722" y="7910162"/>
            <a:ext cx="722889" cy="722889"/>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name="TextBox 27" id="27"/>
            <p:cNvSpPr txBox="true"/>
            <p:nvPr/>
          </p:nvSpPr>
          <p:spPr>
            <a:xfrm>
              <a:off x="76200" y="9525"/>
              <a:ext cx="660400" cy="727075"/>
            </a:xfrm>
            <a:prstGeom prst="rect">
              <a:avLst/>
            </a:prstGeom>
          </p:spPr>
          <p:txBody>
            <a:bodyPr anchor="ctr" rtlCol="false" tIns="50800" lIns="50800" bIns="50800" rIns="50800"/>
            <a:lstStyle/>
            <a:p>
              <a:pPr algn="ctr">
                <a:lnSpc>
                  <a:spcPts val="3624"/>
                </a:lnSpc>
              </a:pPr>
              <a:r>
                <a:rPr lang="en-US" b="true" sz="2499" spc="234">
                  <a:solidFill>
                    <a:srgbClr val="FFFFFF"/>
                  </a:solidFill>
                  <a:latin typeface="Glacial Indifference Bold"/>
                  <a:ea typeface="Glacial Indifference Bold"/>
                  <a:cs typeface="Glacial Indifference Bold"/>
                  <a:sym typeface="Glacial Indifference Bold"/>
                </a:rPr>
                <a:t>4</a:t>
              </a:r>
            </a:p>
          </p:txBody>
        </p:sp>
      </p:grpSp>
      <p:sp>
        <p:nvSpPr>
          <p:cNvPr name="TextBox 28" id="28"/>
          <p:cNvSpPr txBox="true"/>
          <p:nvPr/>
        </p:nvSpPr>
        <p:spPr>
          <a:xfrm rot="0">
            <a:off x="8573802" y="7727981"/>
            <a:ext cx="9021238" cy="492286"/>
          </a:xfrm>
          <a:prstGeom prst="rect">
            <a:avLst/>
          </a:prstGeom>
        </p:spPr>
        <p:txBody>
          <a:bodyPr anchor="t" rtlCol="false" tIns="0" lIns="0" bIns="0" rIns="0">
            <a:spAutoFit/>
          </a:bodyPr>
          <a:lstStyle/>
          <a:p>
            <a:pPr algn="l">
              <a:lnSpc>
                <a:spcPts val="4047"/>
              </a:lnSpc>
            </a:pPr>
            <a:r>
              <a:rPr lang="en-US" sz="2791" spc="262">
                <a:solidFill>
                  <a:srgbClr val="000000"/>
                </a:solidFill>
                <a:latin typeface="Glacial Indifference"/>
                <a:ea typeface="Glacial Indifference"/>
                <a:cs typeface="Glacial Indifference"/>
                <a:sym typeface="Glacial Indifference"/>
              </a:rPr>
              <a:t>KPI # 4 - TIEMPO EN SESIÓN</a:t>
            </a:r>
          </a:p>
        </p:txBody>
      </p:sp>
      <p:sp>
        <p:nvSpPr>
          <p:cNvPr name="TextBox 29" id="29"/>
          <p:cNvSpPr txBox="true"/>
          <p:nvPr/>
        </p:nvSpPr>
        <p:spPr>
          <a:xfrm rot="0">
            <a:off x="8573802" y="8342120"/>
            <a:ext cx="5915280" cy="406953"/>
          </a:xfrm>
          <a:prstGeom prst="rect">
            <a:avLst/>
          </a:prstGeom>
        </p:spPr>
        <p:txBody>
          <a:bodyPr anchor="t" rtlCol="false" tIns="0" lIns="0" bIns="0" rIns="0">
            <a:spAutoFit/>
          </a:bodyPr>
          <a:lstStyle/>
          <a:p>
            <a:pPr algn="l">
              <a:lnSpc>
                <a:spcPts val="2925"/>
              </a:lnSpc>
            </a:pPr>
            <a:r>
              <a:rPr lang="en-US" sz="2233" spc="44">
                <a:solidFill>
                  <a:srgbClr val="000000"/>
                </a:solidFill>
                <a:latin typeface="Codec Pro"/>
                <a:ea typeface="Codec Pro"/>
                <a:cs typeface="Codec Pro"/>
                <a:sym typeface="Codec Pro"/>
              </a:rPr>
              <a:t>Objetivo: 2% de crecimiento</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132232"/>
        </a:solidFill>
      </p:bgPr>
    </p:bg>
    <p:spTree>
      <p:nvGrpSpPr>
        <p:cNvPr id="1" name=""/>
        <p:cNvGrpSpPr/>
        <p:nvPr/>
      </p:nvGrpSpPr>
      <p:grpSpPr>
        <a:xfrm>
          <a:off x="0" y="0"/>
          <a:ext cx="0" cy="0"/>
          <a:chOff x="0" y="0"/>
          <a:chExt cx="0" cy="0"/>
        </a:xfrm>
      </p:grpSpPr>
      <p:sp>
        <p:nvSpPr>
          <p:cNvPr name="AutoShape 2" id="2"/>
          <p:cNvSpPr/>
          <p:nvPr/>
        </p:nvSpPr>
        <p:spPr>
          <a:xfrm rot="0">
            <a:off x="4940584" y="6465400"/>
            <a:ext cx="13347416" cy="0"/>
          </a:xfrm>
          <a:prstGeom prst="line">
            <a:avLst/>
          </a:prstGeom>
          <a:ln cap="flat" w="28575">
            <a:solidFill>
              <a:srgbClr val="FFFFFF"/>
            </a:solidFill>
            <a:prstDash val="solid"/>
            <a:headEnd type="oval" len="lg" w="lg"/>
            <a:tailEnd type="none" len="sm" w="sm"/>
          </a:ln>
        </p:spPr>
      </p:sp>
      <p:sp>
        <p:nvSpPr>
          <p:cNvPr name="AutoShape 3" id="3"/>
          <p:cNvSpPr/>
          <p:nvPr/>
        </p:nvSpPr>
        <p:spPr>
          <a:xfrm rot="0">
            <a:off x="0" y="3285380"/>
            <a:ext cx="13347416" cy="0"/>
          </a:xfrm>
          <a:prstGeom prst="line">
            <a:avLst/>
          </a:prstGeom>
          <a:ln cap="flat" w="28575">
            <a:solidFill>
              <a:srgbClr val="FFFFFF"/>
            </a:solidFill>
            <a:prstDash val="solid"/>
            <a:headEnd type="none" len="sm" w="sm"/>
            <a:tailEnd type="oval" len="lg" w="lg"/>
          </a:ln>
        </p:spPr>
      </p:sp>
      <p:sp>
        <p:nvSpPr>
          <p:cNvPr name="TextBox 4" id="4"/>
          <p:cNvSpPr txBox="true"/>
          <p:nvPr/>
        </p:nvSpPr>
        <p:spPr>
          <a:xfrm rot="0">
            <a:off x="2625417" y="4223822"/>
            <a:ext cx="12318716" cy="1174676"/>
          </a:xfrm>
          <a:prstGeom prst="rect">
            <a:avLst/>
          </a:prstGeom>
        </p:spPr>
        <p:txBody>
          <a:bodyPr anchor="t" rtlCol="false" tIns="0" lIns="0" bIns="0" rIns="0">
            <a:spAutoFit/>
          </a:bodyPr>
          <a:lstStyle/>
          <a:p>
            <a:pPr algn="l">
              <a:lnSpc>
                <a:spcPts val="9200"/>
              </a:lnSpc>
            </a:pPr>
            <a:r>
              <a:rPr lang="en-US" sz="8000" spc="344">
                <a:solidFill>
                  <a:srgbClr val="FFFFFF"/>
                </a:solidFill>
                <a:latin typeface="Oswald"/>
                <a:ea typeface="Oswald"/>
                <a:cs typeface="Oswald"/>
                <a:sym typeface="Oswald"/>
              </a:rPr>
              <a:t>RUTA DE ACCIÓN</a:t>
            </a:r>
          </a:p>
        </p:txBody>
      </p:sp>
      <p:sp>
        <p:nvSpPr>
          <p:cNvPr name="TextBox 5" id="5"/>
          <p:cNvSpPr txBox="true"/>
          <p:nvPr/>
        </p:nvSpPr>
        <p:spPr>
          <a:xfrm rot="0">
            <a:off x="2625417" y="5430501"/>
            <a:ext cx="11526199" cy="670815"/>
          </a:xfrm>
          <a:prstGeom prst="rect">
            <a:avLst/>
          </a:prstGeom>
        </p:spPr>
        <p:txBody>
          <a:bodyPr anchor="t" rtlCol="false" tIns="0" lIns="0" bIns="0" rIns="0">
            <a:spAutoFit/>
          </a:bodyPr>
          <a:lstStyle/>
          <a:p>
            <a:pPr algn="l">
              <a:lnSpc>
                <a:spcPts val="4977"/>
              </a:lnSpc>
            </a:pPr>
            <a:r>
              <a:rPr lang="en-US" sz="3799" spc="75">
                <a:solidFill>
                  <a:srgbClr val="FFFFFF"/>
                </a:solidFill>
                <a:latin typeface="Codec Pro"/>
                <a:ea typeface="Codec Pro"/>
                <a:cs typeface="Codec Pro"/>
                <a:sym typeface="Codec Pro"/>
              </a:rPr>
              <a:t>¿CÓMO LOGRAMOS NUESTRO OBJETIVO?</a:t>
            </a:r>
          </a:p>
        </p:txBody>
      </p:sp>
      <p:sp>
        <p:nvSpPr>
          <p:cNvPr name="TextBox 6" id="6"/>
          <p:cNvSpPr txBox="true"/>
          <p:nvPr/>
        </p:nvSpPr>
        <p:spPr>
          <a:xfrm rot="0">
            <a:off x="442957" y="3854852"/>
            <a:ext cx="1728747" cy="2388683"/>
          </a:xfrm>
          <a:prstGeom prst="rect">
            <a:avLst/>
          </a:prstGeom>
        </p:spPr>
        <p:txBody>
          <a:bodyPr anchor="t" rtlCol="false" tIns="0" lIns="0" bIns="0" rIns="0">
            <a:spAutoFit/>
          </a:bodyPr>
          <a:lstStyle/>
          <a:p>
            <a:pPr algn="ctr">
              <a:lnSpc>
                <a:spcPts val="18616"/>
              </a:lnSpc>
            </a:pPr>
            <a:r>
              <a:rPr lang="en-US" sz="16188" spc="696">
                <a:solidFill>
                  <a:srgbClr val="FFFFFF"/>
                </a:solidFill>
                <a:latin typeface="Oswald"/>
                <a:ea typeface="Oswald"/>
                <a:cs typeface="Oswald"/>
                <a:sym typeface="Oswald"/>
              </a:rPr>
              <a:t>5</a:t>
            </a:r>
          </a:p>
        </p:txBody>
      </p:sp>
      <p:sp>
        <p:nvSpPr>
          <p:cNvPr name="AutoShape 7" id="7"/>
          <p:cNvSpPr/>
          <p:nvPr/>
        </p:nvSpPr>
        <p:spPr>
          <a:xfrm rot="0">
            <a:off x="1952130" y="5124450"/>
            <a:ext cx="439149"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3279284"/>
            <a:chOff x="0" y="0"/>
            <a:chExt cx="4816593" cy="863680"/>
          </a:xfrm>
        </p:grpSpPr>
        <p:sp>
          <p:nvSpPr>
            <p:cNvPr name="Freeform 3" id="3"/>
            <p:cNvSpPr/>
            <p:nvPr/>
          </p:nvSpPr>
          <p:spPr>
            <a:xfrm flipH="false" flipV="false" rot="0">
              <a:off x="0" y="0"/>
              <a:ext cx="4816592" cy="863680"/>
            </a:xfrm>
            <a:custGeom>
              <a:avLst/>
              <a:gdLst/>
              <a:ahLst/>
              <a:cxnLst/>
              <a:rect r="r" b="b" t="t" l="l"/>
              <a:pathLst>
                <a:path h="863680" w="4816592">
                  <a:moveTo>
                    <a:pt x="0" y="0"/>
                  </a:moveTo>
                  <a:lnTo>
                    <a:pt x="4816592" y="0"/>
                  </a:lnTo>
                  <a:lnTo>
                    <a:pt x="4816592" y="863680"/>
                  </a:lnTo>
                  <a:lnTo>
                    <a:pt x="0" y="863680"/>
                  </a:lnTo>
                  <a:close/>
                </a:path>
              </a:pathLst>
            </a:custGeom>
            <a:solidFill>
              <a:srgbClr val="132232"/>
            </a:solidFill>
          </p:spPr>
        </p:sp>
        <p:sp>
          <p:nvSpPr>
            <p:cNvPr name="TextBox 4" id="4"/>
            <p:cNvSpPr txBox="true"/>
            <p:nvPr/>
          </p:nvSpPr>
          <p:spPr>
            <a:xfrm>
              <a:off x="0" y="-66675"/>
              <a:ext cx="4816593" cy="930355"/>
            </a:xfrm>
            <a:prstGeom prst="rect">
              <a:avLst/>
            </a:prstGeom>
          </p:spPr>
          <p:txBody>
            <a:bodyPr anchor="ctr" rtlCol="false" tIns="50800" lIns="50800" bIns="50800" rIns="50800"/>
            <a:lstStyle/>
            <a:p>
              <a:pPr algn="ctr">
                <a:lnSpc>
                  <a:spcPts val="3624"/>
                </a:lnSpc>
              </a:pPr>
            </a:p>
          </p:txBody>
        </p:sp>
      </p:grpSp>
      <p:sp>
        <p:nvSpPr>
          <p:cNvPr name="AutoShape 5" id="5"/>
          <p:cNvSpPr/>
          <p:nvPr/>
        </p:nvSpPr>
        <p:spPr>
          <a:xfrm rot="-5389766">
            <a:off x="1043978" y="6778379"/>
            <a:ext cx="7007747" cy="0"/>
          </a:xfrm>
          <a:prstGeom prst="line">
            <a:avLst/>
          </a:prstGeom>
          <a:ln cap="flat" w="9525">
            <a:solidFill>
              <a:srgbClr val="A6A6A6"/>
            </a:solidFill>
            <a:prstDash val="solid"/>
            <a:headEnd type="none" len="sm" w="sm"/>
            <a:tailEnd type="none" len="sm" w="sm"/>
          </a:ln>
        </p:spPr>
      </p:sp>
      <p:sp>
        <p:nvSpPr>
          <p:cNvPr name="AutoShape 6" id="6"/>
          <p:cNvSpPr/>
          <p:nvPr/>
        </p:nvSpPr>
        <p:spPr>
          <a:xfrm rot="-5400000">
            <a:off x="5640142" y="6778365"/>
            <a:ext cx="7007716" cy="9525"/>
          </a:xfrm>
          <a:prstGeom prst="line">
            <a:avLst/>
          </a:prstGeom>
          <a:ln cap="flat" w="9525">
            <a:solidFill>
              <a:srgbClr val="A6A6A6"/>
            </a:solidFill>
            <a:prstDash val="solid"/>
            <a:headEnd type="none" len="sm" w="sm"/>
            <a:tailEnd type="none" len="sm" w="sm"/>
          </a:ln>
        </p:spPr>
      </p:sp>
      <p:sp>
        <p:nvSpPr>
          <p:cNvPr name="AutoShape 7" id="7"/>
          <p:cNvSpPr/>
          <p:nvPr/>
        </p:nvSpPr>
        <p:spPr>
          <a:xfrm rot="-5405561">
            <a:off x="10167121" y="6778380"/>
            <a:ext cx="7007740" cy="0"/>
          </a:xfrm>
          <a:prstGeom prst="line">
            <a:avLst/>
          </a:prstGeom>
          <a:ln cap="flat" w="9525">
            <a:solidFill>
              <a:srgbClr val="A6A6A6"/>
            </a:solidFill>
            <a:prstDash val="solid"/>
            <a:headEnd type="none" len="sm" w="sm"/>
            <a:tailEnd type="none" len="sm" w="sm"/>
          </a:ln>
        </p:spPr>
      </p:sp>
      <p:sp>
        <p:nvSpPr>
          <p:cNvPr name="Freeform 8" id="8"/>
          <p:cNvSpPr/>
          <p:nvPr/>
        </p:nvSpPr>
        <p:spPr>
          <a:xfrm flipH="false" flipV="false" rot="0">
            <a:off x="9563176" y="3864191"/>
            <a:ext cx="787469" cy="787469"/>
          </a:xfrm>
          <a:custGeom>
            <a:avLst/>
            <a:gdLst/>
            <a:ahLst/>
            <a:cxnLst/>
            <a:rect r="r" b="b" t="t" l="l"/>
            <a:pathLst>
              <a:path h="787469" w="787469">
                <a:moveTo>
                  <a:pt x="0" y="0"/>
                </a:moveTo>
                <a:lnTo>
                  <a:pt x="787469" y="0"/>
                </a:lnTo>
                <a:lnTo>
                  <a:pt x="787469" y="787469"/>
                </a:lnTo>
                <a:lnTo>
                  <a:pt x="0" y="7874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205296" y="3864191"/>
            <a:ext cx="767424" cy="787469"/>
          </a:xfrm>
          <a:custGeom>
            <a:avLst/>
            <a:gdLst/>
            <a:ahLst/>
            <a:cxnLst/>
            <a:rect r="r" b="b" t="t" l="l"/>
            <a:pathLst>
              <a:path h="787469" w="767424">
                <a:moveTo>
                  <a:pt x="0" y="0"/>
                </a:moveTo>
                <a:lnTo>
                  <a:pt x="767425" y="0"/>
                </a:lnTo>
                <a:lnTo>
                  <a:pt x="767425" y="787469"/>
                </a:lnTo>
                <a:lnTo>
                  <a:pt x="0" y="7874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667888" y="3864191"/>
            <a:ext cx="787469" cy="787469"/>
          </a:xfrm>
          <a:custGeom>
            <a:avLst/>
            <a:gdLst/>
            <a:ahLst/>
            <a:cxnLst/>
            <a:rect r="r" b="b" t="t" l="l"/>
            <a:pathLst>
              <a:path h="787469" w="787469">
                <a:moveTo>
                  <a:pt x="0" y="0"/>
                </a:moveTo>
                <a:lnTo>
                  <a:pt x="787468" y="0"/>
                </a:lnTo>
                <a:lnTo>
                  <a:pt x="787468" y="787469"/>
                </a:lnTo>
                <a:lnTo>
                  <a:pt x="0" y="7874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5085106" y="3864191"/>
            <a:ext cx="739704" cy="752704"/>
          </a:xfrm>
          <a:custGeom>
            <a:avLst/>
            <a:gdLst/>
            <a:ahLst/>
            <a:cxnLst/>
            <a:rect r="r" b="b" t="t" l="l"/>
            <a:pathLst>
              <a:path h="752704" w="739704">
                <a:moveTo>
                  <a:pt x="0" y="0"/>
                </a:moveTo>
                <a:lnTo>
                  <a:pt x="739704" y="0"/>
                </a:lnTo>
                <a:lnTo>
                  <a:pt x="739704" y="752704"/>
                </a:lnTo>
                <a:lnTo>
                  <a:pt x="0" y="75270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2" id="12"/>
          <p:cNvSpPr txBox="true"/>
          <p:nvPr/>
        </p:nvSpPr>
        <p:spPr>
          <a:xfrm rot="0">
            <a:off x="1028700" y="1066800"/>
            <a:ext cx="13103867" cy="1174676"/>
          </a:xfrm>
          <a:prstGeom prst="rect">
            <a:avLst/>
          </a:prstGeom>
        </p:spPr>
        <p:txBody>
          <a:bodyPr anchor="t" rtlCol="false" tIns="0" lIns="0" bIns="0" rIns="0">
            <a:spAutoFit/>
          </a:bodyPr>
          <a:lstStyle/>
          <a:p>
            <a:pPr algn="l">
              <a:lnSpc>
                <a:spcPts val="9200"/>
              </a:lnSpc>
            </a:pPr>
            <a:r>
              <a:rPr lang="en-US" sz="8000">
                <a:solidFill>
                  <a:srgbClr val="FFFFFF"/>
                </a:solidFill>
                <a:latin typeface="Oswald"/>
                <a:ea typeface="Oswald"/>
                <a:cs typeface="Oswald"/>
                <a:sym typeface="Oswald"/>
              </a:rPr>
              <a:t>RUTA DE ACCIÓN</a:t>
            </a:r>
          </a:p>
        </p:txBody>
      </p:sp>
      <p:sp>
        <p:nvSpPr>
          <p:cNvPr name="TextBox 13" id="13"/>
          <p:cNvSpPr txBox="true"/>
          <p:nvPr/>
        </p:nvSpPr>
        <p:spPr>
          <a:xfrm rot="0">
            <a:off x="1028700" y="2287491"/>
            <a:ext cx="11213639"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¿QUÉ VAMOS A HACER PARA CONSEGUIR NUESTRO OBJETIVO?</a:t>
            </a:r>
          </a:p>
        </p:txBody>
      </p:sp>
      <p:sp>
        <p:nvSpPr>
          <p:cNvPr name="TextBox 14" id="14"/>
          <p:cNvSpPr txBox="true"/>
          <p:nvPr/>
        </p:nvSpPr>
        <p:spPr>
          <a:xfrm rot="0">
            <a:off x="667888" y="5566499"/>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15" id="15"/>
          <p:cNvSpPr txBox="true"/>
          <p:nvPr/>
        </p:nvSpPr>
        <p:spPr>
          <a:xfrm rot="0">
            <a:off x="667888" y="6047810"/>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16" id="16"/>
          <p:cNvSpPr txBox="true"/>
          <p:nvPr/>
        </p:nvSpPr>
        <p:spPr>
          <a:xfrm rot="0">
            <a:off x="667888" y="4956460"/>
            <a:ext cx="3492232" cy="387694"/>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ACCIÓN NO. 1</a:t>
            </a:r>
          </a:p>
        </p:txBody>
      </p:sp>
      <p:sp>
        <p:nvSpPr>
          <p:cNvPr name="TextBox 17" id="17"/>
          <p:cNvSpPr txBox="true"/>
          <p:nvPr/>
        </p:nvSpPr>
        <p:spPr>
          <a:xfrm rot="0">
            <a:off x="5085106" y="5566499"/>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18" id="18"/>
          <p:cNvSpPr txBox="true"/>
          <p:nvPr/>
        </p:nvSpPr>
        <p:spPr>
          <a:xfrm rot="0">
            <a:off x="5085106" y="6047810"/>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19" id="19"/>
          <p:cNvSpPr txBox="true"/>
          <p:nvPr/>
        </p:nvSpPr>
        <p:spPr>
          <a:xfrm rot="0">
            <a:off x="5085106" y="4956460"/>
            <a:ext cx="3492232" cy="387694"/>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ACCIÓN NO. 2</a:t>
            </a:r>
          </a:p>
        </p:txBody>
      </p:sp>
      <p:sp>
        <p:nvSpPr>
          <p:cNvPr name="TextBox 20" id="20"/>
          <p:cNvSpPr txBox="true"/>
          <p:nvPr/>
        </p:nvSpPr>
        <p:spPr>
          <a:xfrm rot="0">
            <a:off x="9563176" y="5566499"/>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21" id="21"/>
          <p:cNvSpPr txBox="true"/>
          <p:nvPr/>
        </p:nvSpPr>
        <p:spPr>
          <a:xfrm rot="0">
            <a:off x="9563176" y="6047810"/>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22" id="22"/>
          <p:cNvSpPr txBox="true"/>
          <p:nvPr/>
        </p:nvSpPr>
        <p:spPr>
          <a:xfrm rot="0">
            <a:off x="9563176" y="4956460"/>
            <a:ext cx="3492232" cy="387694"/>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ACCIÓN NO. 3</a:t>
            </a:r>
          </a:p>
        </p:txBody>
      </p:sp>
      <p:sp>
        <p:nvSpPr>
          <p:cNvPr name="TextBox 23" id="23"/>
          <p:cNvSpPr txBox="true"/>
          <p:nvPr/>
        </p:nvSpPr>
        <p:spPr>
          <a:xfrm rot="0">
            <a:off x="14137405" y="5566499"/>
            <a:ext cx="3262319" cy="407778"/>
          </a:xfrm>
          <a:prstGeom prst="rect">
            <a:avLst/>
          </a:prstGeom>
        </p:spPr>
        <p:txBody>
          <a:bodyPr anchor="t" rtlCol="false" tIns="0" lIns="0" bIns="0" rIns="0">
            <a:spAutoFit/>
          </a:bodyPr>
          <a:lstStyle/>
          <a:p>
            <a:pPr algn="l">
              <a:lnSpc>
                <a:spcPts val="3315"/>
              </a:lnSpc>
            </a:pPr>
            <a:r>
              <a:rPr lang="en-US" sz="2286" spc="214">
                <a:solidFill>
                  <a:srgbClr val="000000"/>
                </a:solidFill>
                <a:latin typeface="Glacial Indifference"/>
                <a:ea typeface="Glacial Indifference"/>
                <a:cs typeface="Glacial Indifference"/>
                <a:sym typeface="Glacial Indifference"/>
              </a:rPr>
              <a:t>TÍTULAR</a:t>
            </a:r>
          </a:p>
        </p:txBody>
      </p:sp>
      <p:sp>
        <p:nvSpPr>
          <p:cNvPr name="TextBox 24" id="24"/>
          <p:cNvSpPr txBox="true"/>
          <p:nvPr/>
        </p:nvSpPr>
        <p:spPr>
          <a:xfrm rot="0">
            <a:off x="14137405" y="6047810"/>
            <a:ext cx="3492232" cy="2556553"/>
          </a:xfrm>
          <a:prstGeom prst="rect">
            <a:avLst/>
          </a:prstGeom>
        </p:spPr>
        <p:txBody>
          <a:bodyPr anchor="t" rtlCol="false" tIns="0" lIns="0" bIns="0" rIns="0">
            <a:spAutoFit/>
          </a:bodyPr>
          <a:lstStyle/>
          <a:p>
            <a:pPr algn="l" marL="0" indent="0" lvl="0">
              <a:lnSpc>
                <a:spcPts val="2546"/>
              </a:lnSpc>
              <a:spcBef>
                <a:spcPct val="0"/>
              </a:spcBef>
            </a:pPr>
            <a:r>
              <a:rPr lang="en-US" sz="1943" spc="38" u="none">
                <a:solidFill>
                  <a:srgbClr val="000000"/>
                </a:solidFill>
                <a:latin typeface="Codec Pro"/>
                <a:ea typeface="Codec Pro"/>
                <a:cs typeface="Codec Pro"/>
                <a:sym typeface="Codec Pro"/>
              </a:rPr>
              <a:t>Lorem ipsum dolor sit amet, consectetur adipiscing elit. Vivamus ex lacus, imperdiet sed mauris vel, maximus varius diam. Nunc interdum imperdiet dui, id aliquet massa rhoncus vel. Proin sed aliquam nulla. </a:t>
            </a:r>
          </a:p>
        </p:txBody>
      </p:sp>
      <p:sp>
        <p:nvSpPr>
          <p:cNvPr name="TextBox 25" id="25"/>
          <p:cNvSpPr txBox="true"/>
          <p:nvPr/>
        </p:nvSpPr>
        <p:spPr>
          <a:xfrm rot="0">
            <a:off x="14137405" y="4956460"/>
            <a:ext cx="3492232" cy="387694"/>
          </a:xfrm>
          <a:prstGeom prst="rect">
            <a:avLst/>
          </a:prstGeom>
        </p:spPr>
        <p:txBody>
          <a:bodyPr anchor="t" rtlCol="false" tIns="0" lIns="0" bIns="0" rIns="0">
            <a:spAutoFit/>
          </a:bodyPr>
          <a:lstStyle/>
          <a:p>
            <a:pPr algn="l">
              <a:lnSpc>
                <a:spcPts val="3094"/>
              </a:lnSpc>
            </a:pPr>
            <a:r>
              <a:rPr lang="en-US" sz="2690">
                <a:solidFill>
                  <a:srgbClr val="000000"/>
                </a:solidFill>
                <a:latin typeface="Oswald"/>
                <a:ea typeface="Oswald"/>
                <a:cs typeface="Oswald"/>
                <a:sym typeface="Oswald"/>
              </a:rPr>
              <a:t>ACCIÓN NO. 4</a:t>
            </a: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18288000" cy="3279284"/>
            <a:chOff x="0" y="0"/>
            <a:chExt cx="4816593" cy="863680"/>
          </a:xfrm>
        </p:grpSpPr>
        <p:sp>
          <p:nvSpPr>
            <p:cNvPr name="Freeform 3" id="3"/>
            <p:cNvSpPr/>
            <p:nvPr/>
          </p:nvSpPr>
          <p:spPr>
            <a:xfrm flipH="false" flipV="false" rot="0">
              <a:off x="0" y="0"/>
              <a:ext cx="4816592" cy="863680"/>
            </a:xfrm>
            <a:custGeom>
              <a:avLst/>
              <a:gdLst/>
              <a:ahLst/>
              <a:cxnLst/>
              <a:rect r="r" b="b" t="t" l="l"/>
              <a:pathLst>
                <a:path h="863680" w="4816592">
                  <a:moveTo>
                    <a:pt x="0" y="0"/>
                  </a:moveTo>
                  <a:lnTo>
                    <a:pt x="4816592" y="0"/>
                  </a:lnTo>
                  <a:lnTo>
                    <a:pt x="4816592" y="863680"/>
                  </a:lnTo>
                  <a:lnTo>
                    <a:pt x="0" y="863680"/>
                  </a:lnTo>
                  <a:close/>
                </a:path>
              </a:pathLst>
            </a:custGeom>
            <a:solidFill>
              <a:srgbClr val="132232"/>
            </a:solidFill>
          </p:spPr>
        </p:sp>
        <p:sp>
          <p:nvSpPr>
            <p:cNvPr name="TextBox 4" id="4"/>
            <p:cNvSpPr txBox="true"/>
            <p:nvPr/>
          </p:nvSpPr>
          <p:spPr>
            <a:xfrm>
              <a:off x="0" y="-66675"/>
              <a:ext cx="4816593" cy="930355"/>
            </a:xfrm>
            <a:prstGeom prst="rect">
              <a:avLst/>
            </a:prstGeom>
          </p:spPr>
          <p:txBody>
            <a:bodyPr anchor="ctr" rtlCol="false" tIns="50800" lIns="50800" bIns="50800" rIns="50800"/>
            <a:lstStyle/>
            <a:p>
              <a:pPr algn="ctr">
                <a:lnSpc>
                  <a:spcPts val="3624"/>
                </a:lnSpc>
              </a:pPr>
            </a:p>
          </p:txBody>
        </p:sp>
      </p:grpSp>
      <p:graphicFrame>
        <p:nvGraphicFramePr>
          <p:cNvPr name="Table 5" id="5"/>
          <p:cNvGraphicFramePr>
            <a:graphicFrameLocks noGrp="true"/>
          </p:cNvGraphicFramePr>
          <p:nvPr/>
        </p:nvGraphicFramePr>
        <p:xfrm>
          <a:off x="370564" y="3823113"/>
          <a:ext cx="17546872" cy="5588793"/>
        </p:xfrm>
        <a:graphic>
          <a:graphicData uri="http://schemas.openxmlformats.org/drawingml/2006/table">
            <a:tbl>
              <a:tblPr/>
              <a:tblGrid>
                <a:gridCol w="2156050"/>
                <a:gridCol w="1539082"/>
                <a:gridCol w="1539082"/>
                <a:gridCol w="1539082"/>
                <a:gridCol w="1539082"/>
                <a:gridCol w="1539082"/>
                <a:gridCol w="1539082"/>
                <a:gridCol w="1539082"/>
                <a:gridCol w="1539082"/>
                <a:gridCol w="1539082"/>
                <a:gridCol w="1539082"/>
              </a:tblGrid>
              <a:tr h="1475940">
                <a:tc>
                  <a:txBody>
                    <a:bodyPr anchor="t" rtlCol="false"/>
                    <a:lstStyle/>
                    <a:p>
                      <a:pPr algn="ctr">
                        <a:lnSpc>
                          <a:spcPts val="2800"/>
                        </a:lnSpc>
                        <a:defRPr/>
                      </a:pPr>
                      <a:endParaRPr lang="en-US" sz="1100"/>
                    </a:p>
                  </a:txBody>
                  <a:tcPr marL="114300" marR="114300" marT="114300" marB="114300" anchor="ctr">
                    <a:lnL cmpd="sng" algn="ctr" cap="flat" w="9525">
                      <a:solidFill>
                        <a:srgbClr val="FFFFFF"/>
                      </a:solidFill>
                      <a:prstDash val="solid"/>
                      <a:round/>
                      <a:headEnd type="none" w="med" len="med"/>
                      <a:tailEnd type="none" w="med" len="med"/>
                    </a:lnL>
                    <a:lnR cmpd="sng" algn="ctr" cap="flat" w="9525">
                      <a:solidFill>
                        <a:srgbClr val="FFFFFF"/>
                      </a:solidFill>
                      <a:prstDash val="solid"/>
                      <a:round/>
                      <a:headEnd type="none" w="med" len="med"/>
                      <a:tailEnd type="none" w="med" len="med"/>
                    </a:lnR>
                    <a:lnT cmpd="sng" algn="ctr" cap="flat" w="9525">
                      <a:solidFill>
                        <a:srgbClr val="FFFFFF"/>
                      </a:solidFill>
                      <a:prstDash val="solid"/>
                      <a:round/>
                      <a:headEnd type="none" w="med" len="med"/>
                      <a:tailEnd type="none" w="med" len="med"/>
                    </a:lnT>
                    <a:lnB cmpd="sng" algn="ctr" cap="flat" w="9525">
                      <a:solidFill>
                        <a:srgbClr val="FFFFFF"/>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1º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2º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3º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4º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5º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6º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7º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8º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9º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r>
                        <a:rPr lang="en-US" sz="2000" b="true">
                          <a:solidFill>
                            <a:srgbClr val="000000"/>
                          </a:solidFill>
                          <a:latin typeface="Codec Pro Bold"/>
                          <a:ea typeface="Codec Pro Bold"/>
                          <a:cs typeface="Codec Pro Bold"/>
                          <a:sym typeface="Codec Pro Bold"/>
                        </a:rPr>
                        <a:t>10º</a:t>
                      </a:r>
                      <a:r>
                        <a:rPr lang="en-US" sz="2000" b="true">
                          <a:solidFill>
                            <a:srgbClr val="000000"/>
                          </a:solidFill>
                          <a:latin typeface="Codec Pro Bold"/>
                          <a:ea typeface="Codec Pro Bold"/>
                          <a:cs typeface="Codec Pro Bold"/>
                          <a:sym typeface="Codec Pro Bold"/>
                        </a:rPr>
                        <a:t> </a:t>
                      </a:r>
                      <a:endParaRPr lang="en-US" sz="1100"/>
                    </a:p>
                    <a:p>
                      <a:pPr algn="ctr">
                        <a:lnSpc>
                          <a:spcPts val="2800"/>
                        </a:lnSpc>
                      </a:pPr>
                      <a:r>
                        <a:rPr lang="en-US" sz="2000" b="true">
                          <a:solidFill>
                            <a:srgbClr val="000000"/>
                          </a:solidFill>
                          <a:latin typeface="Codec Pro Bold"/>
                          <a:ea typeface="Codec Pro Bold"/>
                          <a:cs typeface="Codec Pro Bold"/>
                          <a:sym typeface="Codec Pro Bold"/>
                        </a:rPr>
                        <a:t>Semana</a:t>
                      </a:r>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22570">
                <a:tc>
                  <a:txBody>
                    <a:bodyPr anchor="t" rtlCol="false"/>
                    <a:lstStyle/>
                    <a:p>
                      <a:pPr algn="ctr">
                        <a:lnSpc>
                          <a:spcPts val="2800"/>
                        </a:lnSpc>
                        <a:defRPr/>
                      </a:pPr>
                      <a:r>
                        <a:rPr lang="en-US" sz="2000">
                          <a:solidFill>
                            <a:srgbClr val="000000"/>
                          </a:solidFill>
                          <a:latin typeface="Codec Pro"/>
                          <a:ea typeface="Codec Pro"/>
                          <a:cs typeface="Codec Pro"/>
                          <a:sym typeface="Codec Pro"/>
                        </a:rPr>
                        <a:t>Acción #1</a:t>
                      </a: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9D9D9"/>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9D9D9"/>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D9D9D9"/>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22570">
                <a:tc>
                  <a:txBody>
                    <a:bodyPr anchor="t" rtlCol="false"/>
                    <a:lstStyle/>
                    <a:p>
                      <a:pPr algn="ctr">
                        <a:lnSpc>
                          <a:spcPts val="2800"/>
                        </a:lnSpc>
                        <a:defRPr/>
                      </a:pPr>
                      <a:r>
                        <a:rPr lang="en-US" sz="2000">
                          <a:solidFill>
                            <a:srgbClr val="000000"/>
                          </a:solidFill>
                          <a:latin typeface="Codec Pro"/>
                          <a:ea typeface="Codec Pro"/>
                          <a:cs typeface="Codec Pro"/>
                          <a:sym typeface="Codec Pro"/>
                        </a:rPr>
                        <a:t>Acción #2</a:t>
                      </a: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F354E"/>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1F354E"/>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22570">
                <a:tc>
                  <a:txBody>
                    <a:bodyPr anchor="t" rtlCol="false"/>
                    <a:lstStyle/>
                    <a:p>
                      <a:pPr algn="ctr">
                        <a:lnSpc>
                          <a:spcPts val="2800"/>
                        </a:lnSpc>
                        <a:defRPr/>
                      </a:pPr>
                      <a:r>
                        <a:rPr lang="en-US" sz="2000">
                          <a:solidFill>
                            <a:srgbClr val="000000"/>
                          </a:solidFill>
                          <a:latin typeface="Codec Pro"/>
                          <a:ea typeface="Codec Pro"/>
                          <a:cs typeface="Codec Pro"/>
                          <a:sym typeface="Codec Pro"/>
                        </a:rPr>
                        <a:t>Acción #3</a:t>
                      </a: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DC7EA"/>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DC7EA"/>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ADC7EA"/>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22570">
                <a:tc>
                  <a:txBody>
                    <a:bodyPr anchor="t" rtlCol="false"/>
                    <a:lstStyle/>
                    <a:p>
                      <a:pPr algn="ctr">
                        <a:lnSpc>
                          <a:spcPts val="2800"/>
                        </a:lnSpc>
                        <a:defRPr/>
                      </a:pPr>
                      <a:r>
                        <a:rPr lang="en-US" sz="2000">
                          <a:solidFill>
                            <a:srgbClr val="000000"/>
                          </a:solidFill>
                          <a:latin typeface="Codec Pro"/>
                          <a:ea typeface="Codec Pro"/>
                          <a:cs typeface="Codec Pro"/>
                          <a:sym typeface="Codec Pro"/>
                        </a:rPr>
                        <a:t>Acción #4</a:t>
                      </a: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06D72"/>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06D72"/>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r>
              <a:tr h="822570">
                <a:tc>
                  <a:txBody>
                    <a:bodyPr anchor="t" rtlCol="false"/>
                    <a:lstStyle/>
                    <a:p>
                      <a:pPr algn="ctr">
                        <a:lnSpc>
                          <a:spcPts val="2800"/>
                        </a:lnSpc>
                        <a:defRPr/>
                      </a:pPr>
                      <a:r>
                        <a:rPr lang="en-US" sz="2000">
                          <a:solidFill>
                            <a:srgbClr val="000000"/>
                          </a:solidFill>
                          <a:latin typeface="Codec Pro"/>
                          <a:ea typeface="Codec Pro"/>
                          <a:cs typeface="Codec Pro"/>
                          <a:sym typeface="Codec Pro"/>
                        </a:rPr>
                        <a:t>Acción #5</a:t>
                      </a: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4387D"/>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4387D"/>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4387D"/>
                    </a:solidFill>
                  </a:tcPr>
                </a:tc>
                <a:tc>
                  <a:txBody>
                    <a:bodyPr anchor="t" rtlCol="false"/>
                    <a:lstStyle/>
                    <a:p>
                      <a:pPr algn="ctr">
                        <a:lnSpc>
                          <a:spcPts val="2800"/>
                        </a:lnSpc>
                        <a:defRPr/>
                      </a:pPr>
                      <a:endParaRPr lang="en-US" sz="1100"/>
                    </a:p>
                  </a:txBody>
                  <a:tcPr marL="114300" marR="114300" marT="114300" marB="114300" anchor="ctr">
                    <a:lnL cmpd="sng" algn="ctr" cap="flat" w="9525">
                      <a:solidFill>
                        <a:srgbClr val="000000"/>
                      </a:solidFill>
                      <a:prstDash val="solid"/>
                      <a:round/>
                      <a:headEnd type="none" w="med" len="med"/>
                      <a:tailEnd type="none" w="med" len="med"/>
                    </a:lnL>
                    <a:lnR cmpd="sng" algn="ctr" cap="flat" w="9525">
                      <a:solidFill>
                        <a:srgbClr val="000000"/>
                      </a:solidFill>
                      <a:prstDash val="solid"/>
                      <a:round/>
                      <a:headEnd type="none" w="med" len="med"/>
                      <a:tailEnd type="none" w="med" len="med"/>
                    </a:lnR>
                    <a:lnT cmpd="sng" algn="ctr" cap="flat" w="9525">
                      <a:solidFill>
                        <a:srgbClr val="000000"/>
                      </a:solidFill>
                      <a:prstDash val="solid"/>
                      <a:round/>
                      <a:headEnd type="none" w="med" len="med"/>
                      <a:tailEnd type="none" w="med" len="med"/>
                    </a:lnT>
                    <a:lnB cmpd="sng" algn="ctr" cap="flat" w="9525">
                      <a:solidFill>
                        <a:srgbClr val="000000"/>
                      </a:solidFill>
                      <a:prstDash val="solid"/>
                      <a:round/>
                      <a:headEnd type="none" w="med" len="med"/>
                      <a:tailEnd type="none" w="med" len="med"/>
                    </a:lnB>
                    <a:solidFill>
                      <a:srgbClr val="04387D"/>
                    </a:solidFill>
                  </a:tcPr>
                </a:tc>
              </a:tr>
            </a:tbl>
          </a:graphicData>
        </a:graphic>
      </p:graphicFrame>
      <p:sp>
        <p:nvSpPr>
          <p:cNvPr name="TextBox 6" id="6"/>
          <p:cNvSpPr txBox="true"/>
          <p:nvPr/>
        </p:nvSpPr>
        <p:spPr>
          <a:xfrm rot="0">
            <a:off x="1028700" y="1066800"/>
            <a:ext cx="13103867" cy="1174676"/>
          </a:xfrm>
          <a:prstGeom prst="rect">
            <a:avLst/>
          </a:prstGeom>
        </p:spPr>
        <p:txBody>
          <a:bodyPr anchor="t" rtlCol="false" tIns="0" lIns="0" bIns="0" rIns="0">
            <a:spAutoFit/>
          </a:bodyPr>
          <a:lstStyle/>
          <a:p>
            <a:pPr algn="l">
              <a:lnSpc>
                <a:spcPts val="9200"/>
              </a:lnSpc>
            </a:pPr>
            <a:r>
              <a:rPr lang="en-US" sz="8000">
                <a:solidFill>
                  <a:srgbClr val="FFFFFF"/>
                </a:solidFill>
                <a:latin typeface="Oswald"/>
                <a:ea typeface="Oswald"/>
                <a:cs typeface="Oswald"/>
                <a:sym typeface="Oswald"/>
              </a:rPr>
              <a:t>CALENDARIO</a:t>
            </a:r>
          </a:p>
        </p:txBody>
      </p:sp>
      <p:sp>
        <p:nvSpPr>
          <p:cNvPr name="TextBox 7" id="7"/>
          <p:cNvSpPr txBox="true"/>
          <p:nvPr/>
        </p:nvSpPr>
        <p:spPr>
          <a:xfrm rot="0">
            <a:off x="1028700" y="2287491"/>
            <a:ext cx="13676732" cy="444388"/>
          </a:xfrm>
          <a:prstGeom prst="rect">
            <a:avLst/>
          </a:prstGeom>
        </p:spPr>
        <p:txBody>
          <a:bodyPr anchor="t" rtlCol="false" tIns="0" lIns="0" bIns="0" rIns="0">
            <a:spAutoFit/>
          </a:bodyPr>
          <a:lstStyle/>
          <a:p>
            <a:pPr algn="l">
              <a:lnSpc>
                <a:spcPts val="3624"/>
              </a:lnSpc>
            </a:pPr>
            <a:r>
              <a:rPr lang="en-US" sz="2499" spc="234">
                <a:solidFill>
                  <a:srgbClr val="FFFFFF"/>
                </a:solidFill>
                <a:latin typeface="Glacial Indifference"/>
                <a:ea typeface="Glacial Indifference"/>
                <a:cs typeface="Glacial Indifference"/>
                <a:sym typeface="Glacial Indifference"/>
              </a:rPr>
              <a:t>DEFINIMOS LOS TIEMPOS EN LOS QUE EJECUTAREMOS EL PROYECTO</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132232"/>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756249"/>
            <a:ext cx="3822006" cy="3812451"/>
          </a:xfrm>
          <a:custGeom>
            <a:avLst/>
            <a:gdLst/>
            <a:ahLst/>
            <a:cxnLst/>
            <a:rect r="r" b="b" t="t" l="l"/>
            <a:pathLst>
              <a:path h="3812451" w="3822006">
                <a:moveTo>
                  <a:pt x="0" y="0"/>
                </a:moveTo>
                <a:lnTo>
                  <a:pt x="3822006" y="0"/>
                </a:lnTo>
                <a:lnTo>
                  <a:pt x="3822006" y="3812450"/>
                </a:lnTo>
                <a:lnTo>
                  <a:pt x="0" y="3812450"/>
                </a:lnTo>
                <a:lnTo>
                  <a:pt x="0" y="0"/>
                </a:lnTo>
                <a:close/>
              </a:path>
            </a:pathLst>
          </a:custGeom>
          <a:blipFill>
            <a:blip r:embed="rId2"/>
            <a:stretch>
              <a:fillRect l="0" t="0" r="0" b="0"/>
            </a:stretch>
          </a:blipFill>
        </p:spPr>
      </p:sp>
      <p:sp>
        <p:nvSpPr>
          <p:cNvPr name="TextBox 3" id="3"/>
          <p:cNvSpPr txBox="true"/>
          <p:nvPr/>
        </p:nvSpPr>
        <p:spPr>
          <a:xfrm rot="0">
            <a:off x="1028700" y="5649065"/>
            <a:ext cx="9688988" cy="556583"/>
          </a:xfrm>
          <a:prstGeom prst="rect">
            <a:avLst/>
          </a:prstGeom>
        </p:spPr>
        <p:txBody>
          <a:bodyPr anchor="t" rtlCol="false" tIns="0" lIns="0" bIns="0" rIns="0">
            <a:spAutoFit/>
          </a:bodyPr>
          <a:lstStyle/>
          <a:p>
            <a:pPr algn="l">
              <a:lnSpc>
                <a:spcPts val="4517"/>
              </a:lnSpc>
            </a:pPr>
            <a:r>
              <a:rPr lang="en-US" sz="3115" spc="292">
                <a:solidFill>
                  <a:srgbClr val="FFFFFF"/>
                </a:solidFill>
                <a:latin typeface="Glacial Indifference"/>
                <a:ea typeface="Glacial Indifference"/>
                <a:cs typeface="Glacial Indifference"/>
                <a:sym typeface="Glacial Indifference"/>
              </a:rPr>
              <a:t>ENSIGNA STUDIO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DAHX7U13b9g</dc:identifier>
  <dcterms:modified xsi:type="dcterms:W3CDTF">2011-08-01T06:04:30Z</dcterms:modified>
  <cp:revision>1</cp:revision>
  <dc:title>Presentación Propuesta de Proyecto Negocio Corporativo azul</dc:title>
</cp:coreProperties>
</file>